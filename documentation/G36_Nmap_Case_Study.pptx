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[Akarsh] Good day everyone. We are Group 36 — I am Akarsh Khot, and with me is Amreet Anooj. Our Cyber Security case study is titled 'Network Reconnaissance and Security Assessment Using Nmap'. In it we scanned our own Windows laptop with Nmap, then used built-in Windows tools to understand what each open port actually belongs to, and checked the firewall and file-sharing settings. We will walk you through the problem, our method, the results and what we recommend.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[Akarsh] Network reconnaissance means gathering information about systems and services. Defenders use it to keep an inventory and spot unexpected listeners; attackers use the same techniques to find entry points, which is why scanning must always be authorized. A Windows laptop runs many background services — operating-system functions, device utilities, file sharing. A list of open ports alone does not tell you three things: which process owns each port, whether the service is needed, and whether another device can actually reach it. Our problem statement is exactly this: how do we do a basic, repeatable port inventory and interpret it properly using local process, firewall and SMB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[Akarsh] The aim is to demonstrate a beginner-friendly, authorized Nmap-based assessment of one Windows laptop. We set six objectives. One: scan the loopback interface for common TCP ports. Two: save the scan output so the evidence can be repeated and compared. Three: run light service and version detection on the ports we found. Four: compare Nmap's results with Windows' own list of listening sockets and processes. Five: inspect the firewall profiles, the SMB protocol settings and the configured shares. And six: identify the limitations and recommend proportionate defensive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[Akarsh] Scope matters a lot in security testing. We assessed only our own Windows laptop. The main target was 127.0.0.1, the loopback address, which simply refers to the same computer. We did not scan any external address, third-party host or other device. The work was limited to observation and configuration checks — we did not exploit any service, attempt to get credentials, or change any SMB settings. The one change we did make was enabling the firewall through Windows Security, and we verified the result afterwards. Nmap's own guidance stresses understanding the legal and authorization boundaries before scanning, and we followed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[Akarsh] We grounded the work in four sets of references. Nmap's official guide explains that ports are classified as open, closed or filtered based on probe responses, and that this is not a vulnerability rating. It also explains TCP connect scanning, service detection, and saving output so results can be compared later. NIST SP 800-115 gives the testing lifecycle: plan, conduct within scope, analyze, and recommend mitigations. Microsoft's documentation describes Windows Firewall as a host-based control with Domain, Private and Public profiles, and recommends limiting SMB exposure and disabling SMB1. Finally, MITRE ATT&amp;CK technique T1046, Network Service Discovery, shows attackers enumerate services too — so defenders should know what is listening. The full report lists 32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[Akarsh] Our method was a staged, non-destructive workflow in six steps, aligned with NIST guidance. First we installed Nmap and verified the version — it returned 7.992. Second, we ran a TCP connect scan against localhost. Third, we saved the output to a text file for evidence. Fourth, we ran a focused service-detection scan only on the four ports we discovered. Fifth, we used PowerShell to inspect listening sockets, owning processes and services, the firewall profiles, the network category, and the SMB configuration and shares. Sixth, after confirming the firewall profiles were enabled, we repeated the scan to compare. Everything stayed on the local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[Akarsh] Here is the toolset. We used Windows with Nmap 7.992 and PowerShell, targeting 127.0.0.1. The first command, nmap -sT -Pn, does a TCP connect scan and skips host discovery. We then ran it again with -oN to save human-readable output, and again after the firewall check. The focused service scan adds -sV for service and version detection, with --version-light to reduce probe intensity, and -p to scan only the four discovered ports. On the Windows side we used Get-NetTCPConnection, Get-Process and Get-CimInstance for ports and processes, Get-NetFirewallProfile for the firewall, and Get-SmbServerConfiguration and Get-SmbShare for file sharing. That lets us compare Nmap's view with the system's own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[Amreet] Now the results. The first scan of localhost completed in about a quarter of a second — 0.26 seconds — and reported the host up. Nmap scans its default 1,000 most common TCP ports. Of those, 996 were closed and four were open: ports 135, 445, 1042 and 7778. On the right is the actual terminal output. We saved this scan as nmap_results.txt. A caution already: the service names in this standard output, like microsoft-ds or interwise, can come only from Nmap's port-number database, so they are not proof of what is really running. That is why we verified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[Amreet] Next we matched each port to a real process using PowerShell. Port 135: Nmap's service detection confirmed Microsoft Windows RPC, and PowerShell showed it belongs to process 1788, svchost.exe, running the RPC Endpoint Mapper and RPC services. Port 445: Nmap labelled it microsoft-ds with a question mark, meaning uncertain; PowerShell showed process ID 4, the System process, with the Server service running, SMB1 off and SMB2 on. Ports 1042 and 7778: Nmap guessed afrog and interwise, again uncertain. PowerShell showed they belong to ASUS software — asus_framework.exe and the Armoury Crate control interface — and both are bound to 127.0.0.1 only. So these two are local-only listeners, and we should not call them network-exposed based on this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[Amreet] Then the firewall. The first PowerShell check showed the Domain profile enabled, but Private and Public disabled — and our Wi-Fi network was classified as Public. We then enabled the firewall through Windows Security, and a later check showed all three profiles enabled. We repeated the Nmap scan and it returned the same four open ports. This is expected, and it does not mean the firewall failed. A localhost scan tests listeners on the same computer, not whether a remote device can connect through the network interface. So the lesson is that the target and scope of a test decide what it can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[Amreet] Port 445 belongs to SMB, Windows file sharing, so we checked its configuration. The Server service, LanmanServer, was running. SMB version 1 was disabled, which is good because it is the old, weak version, and SMB version 2 was enabled. PowerShell listed three shares: ADMIN$, C$ and IPC$. These are standard Windows administrative and communication shares, and their presence is not automatically a vulnerability. A proper exposure assessment would also need the inbound firewall rules, access permissions, and a test from an authorized second device. We did not have a second device, so remote reachability was outside our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[Amreet] From these findings we make six proportionate recommendations. One, keep Windows Firewall enabled on all profiles and review inbound allow rules. Two, keep SMB1 disabled unless there is a documented legacy need, and keep SMB2 or SMB3 patched. Three, review whether SMB server functions and admin shares are needed — but check dependencies first, and do not remove them blindly. Four, review the ASUS listeners on ports 1042 and 7778 through vendor documentation. Five, repeat the scan after software or configuration changes and compare the saved outputs, keeping a record of date, target, command and results. And six, only scan systems you have explicit authorization to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[Amreet] It is important to be honest about limitations. The main one is that every scan targeted 127.0.0.1. A loopback scan shows services reachable through the local loopback interface, not necessarily services reachable from other computers. We had no second computer for a controlled remote test. Nmap did not conclusively identify the services on ports 1042 and 7778, and the label for 445 carried a question mark. We also did not run a vulnerability scan, test credentials, inspect every firewall rule, or test the router. So our findings are a local inventory and configuration review — not a penetration test and not proof of exploitable vulnerabilities.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[Amreet, then both] To conclude: we demonstrated a basic, repeatable Nmap workflow on a Windows laptop. The scan found four open TCP ports on localhost. Service detection confirmed Windows RPC on port 135 but not every other service. PowerShell tied the listeners to Windows RPC and ASUS processes, and the SMB checks showed SMB1 disabled, SMB2 enabled and three standard shares. After verifying the firewall was enabled, the repeat scan returned the same ports. The key lesson is that open ports must be read together with process identity, configuration, firewall policy and test scope. Remote reachability remains untested, and that is the natural next step. [Akarsh] Thank you for listening — we are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274320"/>
          </a:xfrm>
          <a:prstGeom prst="rect">
            <a:avLst/>
          </a:prstGeom>
          <a:noFill/>
          <a:ln/>
        </p:spPr>
        <p:txBody>
          <a:bodyPr wrap="square" lIns="0" tIns="0" rIns="0" bIns="0" rtlCol="0" anchor="t"/>
          <a:lstStyle/>
          <a:p>
            <a:pPr indent="0" marL="0">
              <a:buNone/>
            </a:pPr>
            <a:r>
              <a:rPr lang="en-US" sz="1200" b="1" spc="200" kern="0" dirty="0">
                <a:solidFill>
                  <a:srgbClr val="2DD4A7"/>
                </a:solidFill>
                <a:latin typeface="Calibri" pitchFamily="34" charset="0"/>
                <a:ea typeface="Calibri" pitchFamily="34" charset="-122"/>
                <a:cs typeface="Calibri" pitchFamily="34" charset="-120"/>
              </a:rPr>
              <a:t>CONTINUOUS ASSESSMENT II  ·  CYBER SECURITY  ·  CASE STUDY</a:t>
            </a:r>
            <a:endParaRPr lang="en-US" sz="1200" dirty="0"/>
          </a:p>
        </p:txBody>
      </p:sp>
      <p:sp>
        <p:nvSpPr>
          <p:cNvPr id="3" name="Text 1"/>
          <p:cNvSpPr txBox="1"/>
          <p:nvPr/>
        </p:nvSpPr>
        <p:spPr>
          <a:xfrm>
            <a:off x="548640" y="1051560"/>
            <a:ext cx="768096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Network Reconnaissance and Security Assessment Using Nmap</a:t>
            </a:r>
            <a:endParaRPr lang="en-US" sz="3800" dirty="0"/>
          </a:p>
        </p:txBody>
      </p:sp>
      <p:sp>
        <p:nvSpPr>
          <p:cNvPr id="4" name="Text 2"/>
          <p:cNvSpPr txBox="1"/>
          <p:nvPr/>
        </p:nvSpPr>
        <p:spPr>
          <a:xfrm>
            <a:off x="548640" y="2697480"/>
            <a:ext cx="7315200" cy="365760"/>
          </a:xfrm>
          <a:prstGeom prst="rect">
            <a:avLst/>
          </a:prstGeom>
          <a:noFill/>
          <a:ln/>
        </p:spPr>
        <p:txBody>
          <a:bodyPr wrap="square" lIns="0" tIns="0" rIns="0" bIns="0" rtlCol="0" anchor="t"/>
          <a:lstStyle/>
          <a:p>
            <a:pPr indent="0" marL="0">
              <a:buNone/>
            </a:pPr>
            <a:r>
              <a:rPr lang="en-US" sz="1800" i="1" dirty="0">
                <a:solidFill>
                  <a:srgbClr val="8FA3BF"/>
                </a:solidFill>
                <a:latin typeface="Calibri" pitchFamily="34" charset="0"/>
                <a:ea typeface="Calibri" pitchFamily="34" charset="-122"/>
                <a:cs typeface="Calibri" pitchFamily="34" charset="-120"/>
              </a:rPr>
              <a:t>A practical case study on a Windows endpoint</a:t>
            </a:r>
            <a:endParaRPr lang="en-US" sz="1800" dirty="0"/>
          </a:p>
        </p:txBody>
      </p:sp>
      <p:sp>
        <p:nvSpPr>
          <p:cNvPr id="5" name="Shape 3"/>
          <p:cNvSpPr/>
          <p:nvPr/>
        </p:nvSpPr>
        <p:spPr>
          <a:xfrm>
            <a:off x="548640" y="3429000"/>
            <a:ext cx="4754880" cy="1005840"/>
          </a:xfrm>
          <a:prstGeom prst="rect">
            <a:avLst/>
          </a:prstGeom>
          <a:solidFill>
            <a:srgbClr val="15213A"/>
          </a:solidFill>
          <a:ln w="9525">
            <a:solidFill>
              <a:srgbClr val="24344F"/>
            </a:solidFill>
            <a:prstDash val="solid"/>
          </a:ln>
        </p:spPr>
      </p:sp>
      <p:sp>
        <p:nvSpPr>
          <p:cNvPr id="6" name="Text 4"/>
          <p:cNvSpPr txBox="1"/>
          <p:nvPr/>
        </p:nvSpPr>
        <p:spPr>
          <a:xfrm>
            <a:off x="731520" y="3520440"/>
            <a:ext cx="4480560" cy="822960"/>
          </a:xfrm>
          <a:prstGeom prst="rect">
            <a:avLst/>
          </a:prstGeom>
          <a:noFill/>
          <a:ln/>
        </p:spPr>
        <p:txBody>
          <a:bodyPr wrap="square" lIns="0" tIns="0" rIns="0" bIns="0" rtlCol="0" anchor="ctr"/>
          <a:lstStyle/>
          <a:p>
            <a:pPr indent="0" marL="0">
              <a:buNone/>
            </a:pPr>
            <a:r>
              <a:rPr lang="en-US" sz="1400" b="1" dirty="0">
                <a:solidFill>
                  <a:srgbClr val="2DD4A7"/>
                </a:solidFill>
                <a:latin typeface="Calibri" pitchFamily="34" charset="0"/>
                <a:ea typeface="Calibri" pitchFamily="34" charset="-122"/>
                <a:cs typeface="Calibri" pitchFamily="34" charset="-120"/>
              </a:rPr>
              <a:t>Group 36</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Akarsh Khot  (PRN 23070123012)</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Amreet Anooj  (PRN 23070123018)</a:t>
            </a:r>
            <a:endParaRPr lang="en-US" sz="1400" dirty="0"/>
          </a:p>
        </p:txBody>
      </p:sp>
      <p:sp>
        <p:nvSpPr>
          <p:cNvPr id="7" name="Text 5"/>
          <p:cNvSpPr txBox="1"/>
          <p:nvPr/>
        </p:nvSpPr>
        <p:spPr>
          <a:xfrm>
            <a:off x="5577840" y="3520440"/>
            <a:ext cx="3108960" cy="822960"/>
          </a:xfrm>
          <a:prstGeom prst="rect">
            <a:avLst/>
          </a:prstGeom>
          <a:noFill/>
          <a:ln/>
        </p:spPr>
        <p:txBody>
          <a:bodyPr wrap="square" lIns="0" tIns="0" rIns="0" bIns="0" rtlCol="0" anchor="ctr"/>
          <a:lstStyle/>
          <a:p>
            <a:pPr indent="0" marL="0">
              <a:buNone/>
            </a:pPr>
            <a:r>
              <a:rPr lang="en-US" sz="1200" dirty="0">
                <a:solidFill>
                  <a:srgbClr val="8FA3BF"/>
                </a:solidFill>
                <a:latin typeface="Calibri" pitchFamily="34" charset="0"/>
                <a:ea typeface="Calibri" pitchFamily="34" charset="-122"/>
                <a:cs typeface="Calibri" pitchFamily="34" charset="-120"/>
              </a:rPr>
              <a:t>Dept. of Electronics &amp; Telecommunication Engineering</a:t>
            </a:r>
            <a:endParaRPr lang="en-US" sz="1200" dirty="0"/>
          </a:p>
          <a:p>
            <a:pPr indent="0" marL="0">
              <a:buNone/>
            </a:pPr>
            <a:r>
              <a:rPr lang="en-US" sz="1200" dirty="0">
                <a:solidFill>
                  <a:srgbClr val="8FA3BF"/>
                </a:solidFill>
                <a:latin typeface="Calibri" pitchFamily="34" charset="0"/>
                <a:ea typeface="Calibri" pitchFamily="34" charset="-122"/>
                <a:cs typeface="Calibri" pitchFamily="34" charset="-120"/>
              </a:rPr>
              <a:t>Batch 2023–2027 · Semester VII</a:t>
            </a:r>
            <a:endParaRPr lang="en-US" sz="1200" dirty="0"/>
          </a:p>
        </p:txBody>
      </p:sp>
      <p:sp>
        <p:nvSpPr>
          <p:cNvPr id="8" name="Text 6"/>
          <p:cNvSpPr txBox="1"/>
          <p:nvPr/>
        </p:nvSpPr>
        <p:spPr>
          <a:xfrm>
            <a:off x="5669280" y="868680"/>
            <a:ext cx="3108960" cy="274320"/>
          </a:xfrm>
          <a:prstGeom prst="rect">
            <a:avLst/>
          </a:prstGeom>
          <a:noFill/>
          <a:ln/>
        </p:spPr>
        <p:txBody>
          <a:bodyPr wrap="square" lIns="0" tIns="0" rIns="0" bIns="0" rtlCol="0" anchor="t"/>
          <a:lstStyle/>
          <a:p>
            <a:pPr indent="0" marL="0">
              <a:buNone/>
            </a:pPr>
            <a:r>
              <a:rPr lang="en-US" sz="1200" dirty="0">
                <a:solidFill>
                  <a:srgbClr val="2DD4A7"/>
                </a:solidFill>
                <a:latin typeface="Courier New" pitchFamily="34" charset="0"/>
                <a:ea typeface="Courier New" pitchFamily="34" charset="-122"/>
                <a:cs typeface="Courier New" pitchFamily="34" charset="-120"/>
              </a:rPr>
              <a:t>&gt; nmap -sT -Pn 127.0.0.1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B1220"/>
                </a:solidFill>
                <a:latin typeface="Cambria" pitchFamily="34" charset="0"/>
                <a:ea typeface="Cambria" pitchFamily="34" charset="-122"/>
                <a:cs typeface="Cambria" pitchFamily="34" charset="-120"/>
              </a:rPr>
              <a:t>Why an open port needs context</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1000" dirty="0">
                <a:solidFill>
                  <a:srgbClr val="56657D"/>
                </a:solidFill>
                <a:latin typeface="Calibri" pitchFamily="34" charset="0"/>
                <a:ea typeface="Calibri" pitchFamily="34" charset="-122"/>
                <a:cs typeface="Calibri" pitchFamily="34" charset="-120"/>
              </a:rPr>
              <a:t>Group 36 · Nmap Case Study</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1000" dirty="0">
                <a:solidFill>
                  <a:srgbClr val="56657D"/>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457200" y="1188720"/>
            <a:ext cx="3383280" cy="3291840"/>
          </a:xfrm>
          <a:prstGeom prst="rect">
            <a:avLst/>
          </a:prstGeom>
          <a:solidFill>
            <a:srgbClr val="0B1220"/>
          </a:solidFill>
          <a:ln w="12700">
            <a:solidFill>
              <a:srgbClr val="0B1220"/>
            </a:solidFill>
            <a:prstDash val="solid"/>
          </a:ln>
        </p:spPr>
      </p:sp>
      <p:sp>
        <p:nvSpPr>
          <p:cNvPr id="7" name="Text 4"/>
          <p:cNvSpPr txBox="1"/>
          <p:nvPr/>
        </p:nvSpPr>
        <p:spPr>
          <a:xfrm>
            <a:off x="685800" y="1463040"/>
            <a:ext cx="2926080" cy="4572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Open port</a:t>
            </a:r>
            <a:endParaRPr lang="en-US" sz="2600" dirty="0"/>
          </a:p>
        </p:txBody>
      </p:sp>
      <p:sp>
        <p:nvSpPr>
          <p:cNvPr id="8" name="Text 5"/>
          <p:cNvSpPr txBox="1"/>
          <p:nvPr/>
        </p:nvSpPr>
        <p:spPr>
          <a:xfrm>
            <a:off x="685800" y="1965960"/>
            <a:ext cx="2926080" cy="822960"/>
          </a:xfrm>
          <a:prstGeom prst="rect">
            <a:avLst/>
          </a:prstGeom>
          <a:noFill/>
          <a:ln/>
        </p:spPr>
        <p:txBody>
          <a:bodyPr wrap="square" lIns="0" tIns="0" rIns="0" bIns="0" rtlCol="0" anchor="t"/>
          <a:lstStyle/>
          <a:p>
            <a:pPr indent="0" marL="0">
              <a:buNone/>
            </a:pPr>
            <a:r>
              <a:rPr lang="en-US" sz="6000" b="1" dirty="0">
                <a:solidFill>
                  <a:srgbClr val="2DD4A7"/>
                </a:solidFill>
                <a:latin typeface="Cambria" pitchFamily="34" charset="0"/>
                <a:ea typeface="Cambria" pitchFamily="34" charset="-122"/>
                <a:cs typeface="Cambria" pitchFamily="34" charset="-120"/>
              </a:rPr>
              <a:t>≠</a:t>
            </a:r>
            <a:endParaRPr lang="en-US" sz="6000" dirty="0"/>
          </a:p>
        </p:txBody>
      </p:sp>
      <p:sp>
        <p:nvSpPr>
          <p:cNvPr id="9" name="Text 6"/>
          <p:cNvSpPr txBox="1"/>
          <p:nvPr/>
        </p:nvSpPr>
        <p:spPr>
          <a:xfrm>
            <a:off x="685800" y="2880360"/>
            <a:ext cx="2926080" cy="4572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Vulnerability</a:t>
            </a:r>
            <a:endParaRPr lang="en-US" sz="2600" dirty="0"/>
          </a:p>
        </p:txBody>
      </p:sp>
      <p:sp>
        <p:nvSpPr>
          <p:cNvPr id="10" name="Text 7"/>
          <p:cNvSpPr txBox="1"/>
          <p:nvPr/>
        </p:nvSpPr>
        <p:spPr>
          <a:xfrm>
            <a:off x="685800" y="3703320"/>
            <a:ext cx="2926080" cy="548640"/>
          </a:xfrm>
          <a:prstGeom prst="rect">
            <a:avLst/>
          </a:prstGeom>
          <a:noFill/>
          <a:ln/>
        </p:spPr>
        <p:txBody>
          <a:bodyPr wrap="square" lIns="0" tIns="0" rIns="0" bIns="0" rtlCol="0" anchor="t"/>
          <a:lstStyle/>
          <a:p>
            <a:pPr indent="0" marL="0">
              <a:buNone/>
            </a:pPr>
            <a:r>
              <a:rPr lang="en-US" sz="1400" i="1" dirty="0">
                <a:solidFill>
                  <a:srgbClr val="8FA3BF"/>
                </a:solidFill>
                <a:latin typeface="Calibri" pitchFamily="34" charset="0"/>
                <a:ea typeface="Calibri" pitchFamily="34" charset="-122"/>
                <a:cs typeface="Calibri" pitchFamily="34" charset="-120"/>
              </a:rPr>
              <a:t>A scan is an inventory step.</a:t>
            </a:r>
            <a:endParaRPr lang="en-US" sz="1400" dirty="0"/>
          </a:p>
        </p:txBody>
      </p:sp>
      <p:sp>
        <p:nvSpPr>
          <p:cNvPr id="11" name="Shape 8"/>
          <p:cNvSpPr/>
          <p:nvPr/>
        </p:nvSpPr>
        <p:spPr>
          <a:xfrm>
            <a:off x="4114800" y="1188720"/>
            <a:ext cx="4572000" cy="100584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297680" y="1417320"/>
            <a:ext cx="548640" cy="548640"/>
          </a:xfrm>
          <a:prstGeom prst="ellipse">
            <a:avLst/>
          </a:prstGeom>
          <a:solidFill>
            <a:srgbClr val="0B7A68"/>
          </a:solidFill>
          <a:ln w="12700">
            <a:solidFill>
              <a:srgbClr val="0B7A68"/>
            </a:solidFill>
            <a:prstDash val="solid"/>
          </a:ln>
        </p:spPr>
      </p:sp>
      <p:sp>
        <p:nvSpPr>
          <p:cNvPr id="13" name="Text 10"/>
          <p:cNvSpPr txBox="1"/>
          <p:nvPr/>
        </p:nvSpPr>
        <p:spPr>
          <a:xfrm>
            <a:off x="4297680"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Text 11"/>
          <p:cNvSpPr txBox="1"/>
          <p:nvPr/>
        </p:nvSpPr>
        <p:spPr>
          <a:xfrm>
            <a:off x="5029200" y="1344168"/>
            <a:ext cx="3520440" cy="365760"/>
          </a:xfrm>
          <a:prstGeom prst="rect">
            <a:avLst/>
          </a:prstGeom>
          <a:noFill/>
          <a:ln/>
        </p:spPr>
        <p:txBody>
          <a:bodyPr wrap="square" lIns="0" tIns="0" rIns="0" bIns="0" rtlCol="0" anchor="t"/>
          <a:lstStyle/>
          <a:p>
            <a:pPr indent="0" marL="0">
              <a:buNone/>
            </a:pPr>
            <a:r>
              <a:rPr lang="en-US" sz="1800" b="1" dirty="0">
                <a:solidFill>
                  <a:srgbClr val="0B1220"/>
                </a:solidFill>
                <a:latin typeface="Calibri" pitchFamily="34" charset="0"/>
                <a:ea typeface="Calibri" pitchFamily="34" charset="-122"/>
                <a:cs typeface="Calibri" pitchFamily="34" charset="-120"/>
              </a:rPr>
              <a:t>Which process owns the port?</a:t>
            </a:r>
            <a:endParaRPr lang="en-US" sz="1800" dirty="0"/>
          </a:p>
        </p:txBody>
      </p:sp>
      <p:sp>
        <p:nvSpPr>
          <p:cNvPr id="15" name="Text 12"/>
          <p:cNvSpPr txBox="1"/>
          <p:nvPr/>
        </p:nvSpPr>
        <p:spPr>
          <a:xfrm>
            <a:off x="5029200" y="1709928"/>
            <a:ext cx="3520440" cy="365760"/>
          </a:xfrm>
          <a:prstGeom prst="rect">
            <a:avLst/>
          </a:prstGeom>
          <a:noFill/>
          <a:ln/>
        </p:spPr>
        <p:txBody>
          <a:bodyPr wrap="square" lIns="0" tIns="0" rIns="0" bIns="0" rtlCol="0" anchor="t"/>
          <a:lstStyle/>
          <a:p>
            <a:pPr indent="0" marL="0">
              <a:buNone/>
            </a:pPr>
            <a:r>
              <a:rPr lang="en-US" sz="1400" dirty="0">
                <a:solidFill>
                  <a:srgbClr val="56657D"/>
                </a:solidFill>
                <a:latin typeface="Calibri" pitchFamily="34" charset="0"/>
                <a:ea typeface="Calibri" pitchFamily="34" charset="-122"/>
                <a:cs typeface="Calibri" pitchFamily="34" charset="-120"/>
              </a:rPr>
              <a:t>Nmap shows the port, not the program behind it</a:t>
            </a:r>
            <a:endParaRPr lang="en-US" sz="1400" dirty="0"/>
          </a:p>
        </p:txBody>
      </p:sp>
      <p:sp>
        <p:nvSpPr>
          <p:cNvPr id="16" name="Shape 13"/>
          <p:cNvSpPr/>
          <p:nvPr/>
        </p:nvSpPr>
        <p:spPr>
          <a:xfrm>
            <a:off x="4114800" y="2331720"/>
            <a:ext cx="4572000" cy="100584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4297680" y="2560320"/>
            <a:ext cx="548640" cy="548640"/>
          </a:xfrm>
          <a:prstGeom prst="ellipse">
            <a:avLst/>
          </a:prstGeom>
          <a:solidFill>
            <a:srgbClr val="0B7A68"/>
          </a:solidFill>
          <a:ln w="12700">
            <a:solidFill>
              <a:srgbClr val="0B7A68"/>
            </a:solidFill>
            <a:prstDash val="solid"/>
          </a:ln>
        </p:spPr>
      </p:sp>
      <p:sp>
        <p:nvSpPr>
          <p:cNvPr id="18" name="Text 15"/>
          <p:cNvSpPr txBox="1"/>
          <p:nvPr/>
        </p:nvSpPr>
        <p:spPr>
          <a:xfrm>
            <a:off x="4297680" y="2560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Text 16"/>
          <p:cNvSpPr txBox="1"/>
          <p:nvPr/>
        </p:nvSpPr>
        <p:spPr>
          <a:xfrm>
            <a:off x="5029200" y="2487168"/>
            <a:ext cx="3520440" cy="365760"/>
          </a:xfrm>
          <a:prstGeom prst="rect">
            <a:avLst/>
          </a:prstGeom>
          <a:noFill/>
          <a:ln/>
        </p:spPr>
        <p:txBody>
          <a:bodyPr wrap="square" lIns="0" tIns="0" rIns="0" bIns="0" rtlCol="0" anchor="t"/>
          <a:lstStyle/>
          <a:p>
            <a:pPr indent="0" marL="0">
              <a:buNone/>
            </a:pPr>
            <a:r>
              <a:rPr lang="en-US" sz="1800" b="1" dirty="0">
                <a:solidFill>
                  <a:srgbClr val="0B1220"/>
                </a:solidFill>
                <a:latin typeface="Calibri" pitchFamily="34" charset="0"/>
                <a:ea typeface="Calibri" pitchFamily="34" charset="-122"/>
                <a:cs typeface="Calibri" pitchFamily="34" charset="-120"/>
              </a:rPr>
              <a:t>Is the service actually needed?</a:t>
            </a:r>
            <a:endParaRPr lang="en-US" sz="1800" dirty="0"/>
          </a:p>
        </p:txBody>
      </p:sp>
      <p:sp>
        <p:nvSpPr>
          <p:cNvPr id="20" name="Text 17"/>
          <p:cNvSpPr txBox="1"/>
          <p:nvPr/>
        </p:nvSpPr>
        <p:spPr>
          <a:xfrm>
            <a:off x="5029200" y="2852928"/>
            <a:ext cx="3520440" cy="365760"/>
          </a:xfrm>
          <a:prstGeom prst="rect">
            <a:avLst/>
          </a:prstGeom>
          <a:noFill/>
          <a:ln/>
        </p:spPr>
        <p:txBody>
          <a:bodyPr wrap="square" lIns="0" tIns="0" rIns="0" bIns="0" rtlCol="0" anchor="t"/>
          <a:lstStyle/>
          <a:p>
            <a:pPr indent="0" marL="0">
              <a:buNone/>
            </a:pPr>
            <a:r>
              <a:rPr lang="en-US" sz="1400" dirty="0">
                <a:solidFill>
                  <a:srgbClr val="56657D"/>
                </a:solidFill>
                <a:latin typeface="Calibri" pitchFamily="34" charset="0"/>
                <a:ea typeface="Calibri" pitchFamily="34" charset="-122"/>
                <a:cs typeface="Calibri" pitchFamily="34" charset="-120"/>
              </a:rPr>
              <a:t>Background services serve OS, devices, file sharing</a:t>
            </a:r>
            <a:endParaRPr lang="en-US" sz="1400" dirty="0"/>
          </a:p>
        </p:txBody>
      </p:sp>
      <p:sp>
        <p:nvSpPr>
          <p:cNvPr id="21" name="Shape 18"/>
          <p:cNvSpPr/>
          <p:nvPr/>
        </p:nvSpPr>
        <p:spPr>
          <a:xfrm>
            <a:off x="4114800" y="3474720"/>
            <a:ext cx="4572000" cy="100584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22" name="Shape 19"/>
          <p:cNvSpPr/>
          <p:nvPr/>
        </p:nvSpPr>
        <p:spPr>
          <a:xfrm>
            <a:off x="4297680" y="3703320"/>
            <a:ext cx="548640" cy="548640"/>
          </a:xfrm>
          <a:prstGeom prst="ellipse">
            <a:avLst/>
          </a:prstGeom>
          <a:solidFill>
            <a:srgbClr val="0B7A68"/>
          </a:solidFill>
          <a:ln w="12700">
            <a:solidFill>
              <a:srgbClr val="0B7A68"/>
            </a:solidFill>
            <a:prstDash val="solid"/>
          </a:ln>
        </p:spPr>
      </p:sp>
      <p:sp>
        <p:nvSpPr>
          <p:cNvPr id="23" name="Text 20"/>
          <p:cNvSpPr txBox="1"/>
          <p:nvPr/>
        </p:nvSpPr>
        <p:spPr>
          <a:xfrm>
            <a:off x="4297680" y="3703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4" name="Text 21"/>
          <p:cNvSpPr txBox="1"/>
          <p:nvPr/>
        </p:nvSpPr>
        <p:spPr>
          <a:xfrm>
            <a:off x="5029200" y="3630168"/>
            <a:ext cx="3520440" cy="365760"/>
          </a:xfrm>
          <a:prstGeom prst="rect">
            <a:avLst/>
          </a:prstGeom>
          <a:noFill/>
          <a:ln/>
        </p:spPr>
        <p:txBody>
          <a:bodyPr wrap="square" lIns="0" tIns="0" rIns="0" bIns="0" rtlCol="0" anchor="t"/>
          <a:lstStyle/>
          <a:p>
            <a:pPr indent="0" marL="0">
              <a:buNone/>
            </a:pPr>
            <a:r>
              <a:rPr lang="en-US" sz="1800" b="1" dirty="0">
                <a:solidFill>
                  <a:srgbClr val="0B1220"/>
                </a:solidFill>
                <a:latin typeface="Calibri" pitchFamily="34" charset="0"/>
                <a:ea typeface="Calibri" pitchFamily="34" charset="-122"/>
                <a:cs typeface="Calibri" pitchFamily="34" charset="-120"/>
              </a:rPr>
              <a:t>Can another device reach it?</a:t>
            </a:r>
            <a:endParaRPr lang="en-US" sz="1800" dirty="0"/>
          </a:p>
        </p:txBody>
      </p:sp>
      <p:sp>
        <p:nvSpPr>
          <p:cNvPr id="25" name="Text 22"/>
          <p:cNvSpPr txBox="1"/>
          <p:nvPr/>
        </p:nvSpPr>
        <p:spPr>
          <a:xfrm>
            <a:off x="5029200" y="3995928"/>
            <a:ext cx="3520440" cy="365760"/>
          </a:xfrm>
          <a:prstGeom prst="rect">
            <a:avLst/>
          </a:prstGeom>
          <a:noFill/>
          <a:ln/>
        </p:spPr>
        <p:txBody>
          <a:bodyPr wrap="square" lIns="0" tIns="0" rIns="0" bIns="0" rtlCol="0" anchor="t"/>
          <a:lstStyle/>
          <a:p>
            <a:pPr indent="0" marL="0">
              <a:buNone/>
            </a:pPr>
            <a:r>
              <a:rPr lang="en-US" sz="1400" dirty="0">
                <a:solidFill>
                  <a:srgbClr val="56657D"/>
                </a:solidFill>
                <a:latin typeface="Calibri" pitchFamily="34" charset="0"/>
                <a:ea typeface="Calibri" pitchFamily="34" charset="-122"/>
                <a:cs typeface="Calibri" pitchFamily="34" charset="-120"/>
              </a:rPr>
              <a:t>Depends on binding address and firewall policy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B1220"/>
                </a:solidFill>
                <a:latin typeface="Cambria" pitchFamily="34" charset="0"/>
                <a:ea typeface="Cambria" pitchFamily="34" charset="-122"/>
                <a:cs typeface="Cambria" pitchFamily="34" charset="-120"/>
              </a:rPr>
              <a:t>Aim and objectives</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1000" dirty="0">
                <a:solidFill>
                  <a:srgbClr val="56657D"/>
                </a:solidFill>
                <a:latin typeface="Calibri" pitchFamily="34" charset="0"/>
                <a:ea typeface="Calibri" pitchFamily="34" charset="-122"/>
                <a:cs typeface="Calibri" pitchFamily="34" charset="-120"/>
              </a:rPr>
              <a:t>Group 36 · Nmap Case Study</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1000" dirty="0">
                <a:solidFill>
                  <a:srgbClr val="56657D"/>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457200" y="1188720"/>
            <a:ext cx="2606040" cy="155448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640080" y="1371600"/>
            <a:ext cx="457200" cy="457200"/>
          </a:xfrm>
          <a:prstGeom prst="ellipse">
            <a:avLst/>
          </a:prstGeom>
          <a:solidFill>
            <a:srgbClr val="0B7A68"/>
          </a:solidFill>
          <a:ln w="12700">
            <a:solidFill>
              <a:srgbClr val="0B7A68"/>
            </a:solidFill>
            <a:prstDash val="solid"/>
          </a:ln>
        </p:spPr>
      </p:sp>
      <p:sp>
        <p:nvSpPr>
          <p:cNvPr id="8" name="Text 5"/>
          <p:cNvSpPr txBox="1"/>
          <p:nvPr/>
        </p:nvSpPr>
        <p:spPr>
          <a:xfrm>
            <a:off x="640080" y="1371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234440" y="1389888"/>
            <a:ext cx="1737360" cy="411480"/>
          </a:xfrm>
          <a:prstGeom prst="rect">
            <a:avLst/>
          </a:prstGeom>
          <a:noFill/>
          <a:ln/>
        </p:spPr>
        <p:txBody>
          <a:bodyPr wrap="square" lIns="0" tIns="0" rIns="0" bIns="0" rtlCol="0" anchor="ctr"/>
          <a:lstStyle/>
          <a:p>
            <a:pPr indent="0" marL="0">
              <a:buNone/>
            </a:pPr>
            <a:r>
              <a:rPr lang="en-US" sz="2000" b="1" dirty="0">
                <a:solidFill>
                  <a:srgbClr val="0B1220"/>
                </a:solidFill>
                <a:latin typeface="Cambria" pitchFamily="34" charset="0"/>
                <a:ea typeface="Cambria" pitchFamily="34" charset="-122"/>
                <a:cs typeface="Cambria" pitchFamily="34" charset="-120"/>
              </a:rPr>
              <a:t>Scan</a:t>
            </a:r>
            <a:endParaRPr lang="en-US" sz="2000" dirty="0"/>
          </a:p>
        </p:txBody>
      </p:sp>
      <p:sp>
        <p:nvSpPr>
          <p:cNvPr id="10" name="Text 7"/>
          <p:cNvSpPr txBox="1"/>
          <p:nvPr/>
        </p:nvSpPr>
        <p:spPr>
          <a:xfrm>
            <a:off x="640080" y="2011680"/>
            <a:ext cx="2286000" cy="640080"/>
          </a:xfrm>
          <a:prstGeom prst="rect">
            <a:avLst/>
          </a:prstGeom>
          <a:noFill/>
          <a:ln/>
        </p:spPr>
        <p:txBody>
          <a:bodyPr wrap="square" lIns="0" tIns="0" rIns="0" bIns="0" rtlCol="0" anchor="t"/>
          <a:lstStyle/>
          <a:p>
            <a:pPr indent="0" marL="0">
              <a:buNone/>
            </a:pPr>
            <a:r>
              <a:rPr lang="en-US" sz="1400" dirty="0">
                <a:solidFill>
                  <a:srgbClr val="56657D"/>
                </a:solidFill>
                <a:latin typeface="Calibri" pitchFamily="34" charset="0"/>
                <a:ea typeface="Calibri" pitchFamily="34" charset="-122"/>
                <a:cs typeface="Calibri" pitchFamily="34" charset="-120"/>
              </a:rPr>
              <a:t>Loopback interface, common TCP ports</a:t>
            </a:r>
            <a:endParaRPr lang="en-US" sz="1400" dirty="0"/>
          </a:p>
        </p:txBody>
      </p:sp>
      <p:sp>
        <p:nvSpPr>
          <p:cNvPr id="11" name="Shape 8"/>
          <p:cNvSpPr/>
          <p:nvPr/>
        </p:nvSpPr>
        <p:spPr>
          <a:xfrm>
            <a:off x="3246120" y="1188720"/>
            <a:ext cx="2606040" cy="155448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3429000" y="1371600"/>
            <a:ext cx="457200" cy="457200"/>
          </a:xfrm>
          <a:prstGeom prst="ellipse">
            <a:avLst/>
          </a:prstGeom>
          <a:solidFill>
            <a:srgbClr val="0B7A68"/>
          </a:solidFill>
          <a:ln w="12700">
            <a:solidFill>
              <a:srgbClr val="0B7A68"/>
            </a:solidFill>
            <a:prstDash val="solid"/>
          </a:ln>
        </p:spPr>
      </p:sp>
      <p:sp>
        <p:nvSpPr>
          <p:cNvPr id="13" name="Text 10"/>
          <p:cNvSpPr txBox="1"/>
          <p:nvPr/>
        </p:nvSpPr>
        <p:spPr>
          <a:xfrm>
            <a:off x="3429000" y="1371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1"/>
          <p:cNvSpPr txBox="1"/>
          <p:nvPr/>
        </p:nvSpPr>
        <p:spPr>
          <a:xfrm>
            <a:off x="4023360" y="1389888"/>
            <a:ext cx="1737360" cy="411480"/>
          </a:xfrm>
          <a:prstGeom prst="rect">
            <a:avLst/>
          </a:prstGeom>
          <a:noFill/>
          <a:ln/>
        </p:spPr>
        <p:txBody>
          <a:bodyPr wrap="square" lIns="0" tIns="0" rIns="0" bIns="0" rtlCol="0" anchor="ctr"/>
          <a:lstStyle/>
          <a:p>
            <a:pPr indent="0" marL="0">
              <a:buNone/>
            </a:pPr>
            <a:r>
              <a:rPr lang="en-US" sz="2000" b="1" dirty="0">
                <a:solidFill>
                  <a:srgbClr val="0B1220"/>
                </a:solidFill>
                <a:latin typeface="Cambria" pitchFamily="34" charset="0"/>
                <a:ea typeface="Cambria" pitchFamily="34" charset="-122"/>
                <a:cs typeface="Cambria" pitchFamily="34" charset="-120"/>
              </a:rPr>
              <a:t>Save</a:t>
            </a:r>
            <a:endParaRPr lang="en-US" sz="2000" dirty="0"/>
          </a:p>
        </p:txBody>
      </p:sp>
      <p:sp>
        <p:nvSpPr>
          <p:cNvPr id="15" name="Text 12"/>
          <p:cNvSpPr txBox="1"/>
          <p:nvPr/>
        </p:nvSpPr>
        <p:spPr>
          <a:xfrm>
            <a:off x="3429000" y="2011680"/>
            <a:ext cx="2286000" cy="640080"/>
          </a:xfrm>
          <a:prstGeom prst="rect">
            <a:avLst/>
          </a:prstGeom>
          <a:noFill/>
          <a:ln/>
        </p:spPr>
        <p:txBody>
          <a:bodyPr wrap="square" lIns="0" tIns="0" rIns="0" bIns="0" rtlCol="0" anchor="t"/>
          <a:lstStyle/>
          <a:p>
            <a:pPr indent="0" marL="0">
              <a:buNone/>
            </a:pPr>
            <a:r>
              <a:rPr lang="en-US" sz="1400" dirty="0">
                <a:solidFill>
                  <a:srgbClr val="56657D"/>
                </a:solidFill>
                <a:latin typeface="Calibri" pitchFamily="34" charset="0"/>
                <a:ea typeface="Calibri" pitchFamily="34" charset="-122"/>
                <a:cs typeface="Calibri" pitchFamily="34" charset="-120"/>
              </a:rPr>
              <a:t>Store scan output as repeatable evidence</a:t>
            </a:r>
            <a:endParaRPr lang="en-US" sz="1400" dirty="0"/>
          </a:p>
        </p:txBody>
      </p:sp>
      <p:sp>
        <p:nvSpPr>
          <p:cNvPr id="16" name="Shape 13"/>
          <p:cNvSpPr/>
          <p:nvPr/>
        </p:nvSpPr>
        <p:spPr>
          <a:xfrm>
            <a:off x="6035040" y="1188720"/>
            <a:ext cx="2606040" cy="155448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6217920" y="1371600"/>
            <a:ext cx="457200" cy="457200"/>
          </a:xfrm>
          <a:prstGeom prst="ellipse">
            <a:avLst/>
          </a:prstGeom>
          <a:solidFill>
            <a:srgbClr val="0B7A68"/>
          </a:solidFill>
          <a:ln w="12700">
            <a:solidFill>
              <a:srgbClr val="0B7A68"/>
            </a:solidFill>
            <a:prstDash val="solid"/>
          </a:ln>
        </p:spPr>
      </p:sp>
      <p:sp>
        <p:nvSpPr>
          <p:cNvPr id="18" name="Text 15"/>
          <p:cNvSpPr txBox="1"/>
          <p:nvPr/>
        </p:nvSpPr>
        <p:spPr>
          <a:xfrm>
            <a:off x="6217920" y="1371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txBox="1"/>
          <p:nvPr/>
        </p:nvSpPr>
        <p:spPr>
          <a:xfrm>
            <a:off x="6812280" y="1389888"/>
            <a:ext cx="1737360" cy="411480"/>
          </a:xfrm>
          <a:prstGeom prst="rect">
            <a:avLst/>
          </a:prstGeom>
          <a:noFill/>
          <a:ln/>
        </p:spPr>
        <p:txBody>
          <a:bodyPr wrap="square" lIns="0" tIns="0" rIns="0" bIns="0" rtlCol="0" anchor="ctr"/>
          <a:lstStyle/>
          <a:p>
            <a:pPr indent="0" marL="0">
              <a:buNone/>
            </a:pPr>
            <a:r>
              <a:rPr lang="en-US" sz="2000" b="1" dirty="0">
                <a:solidFill>
                  <a:srgbClr val="0B1220"/>
                </a:solidFill>
                <a:latin typeface="Cambria" pitchFamily="34" charset="0"/>
                <a:ea typeface="Cambria" pitchFamily="34" charset="-122"/>
                <a:cs typeface="Cambria" pitchFamily="34" charset="-120"/>
              </a:rPr>
              <a:t>Detect</a:t>
            </a:r>
            <a:endParaRPr lang="en-US" sz="2000" dirty="0"/>
          </a:p>
        </p:txBody>
      </p:sp>
      <p:sp>
        <p:nvSpPr>
          <p:cNvPr id="20" name="Text 17"/>
          <p:cNvSpPr txBox="1"/>
          <p:nvPr/>
        </p:nvSpPr>
        <p:spPr>
          <a:xfrm>
            <a:off x="6217920" y="2011680"/>
            <a:ext cx="2286000" cy="640080"/>
          </a:xfrm>
          <a:prstGeom prst="rect">
            <a:avLst/>
          </a:prstGeom>
          <a:noFill/>
          <a:ln/>
        </p:spPr>
        <p:txBody>
          <a:bodyPr wrap="square" lIns="0" tIns="0" rIns="0" bIns="0" rtlCol="0" anchor="t"/>
          <a:lstStyle/>
          <a:p>
            <a:pPr indent="0" marL="0">
              <a:buNone/>
            </a:pPr>
            <a:r>
              <a:rPr lang="en-US" sz="1400" dirty="0">
                <a:solidFill>
                  <a:srgbClr val="56657D"/>
                </a:solidFill>
                <a:latin typeface="Calibri" pitchFamily="34" charset="0"/>
                <a:ea typeface="Calibri" pitchFamily="34" charset="-122"/>
                <a:cs typeface="Calibri" pitchFamily="34" charset="-120"/>
              </a:rPr>
              <a:t>Light service / version detection</a:t>
            </a:r>
            <a:endParaRPr lang="en-US" sz="1400" dirty="0"/>
          </a:p>
        </p:txBody>
      </p:sp>
      <p:sp>
        <p:nvSpPr>
          <p:cNvPr id="21" name="Shape 18"/>
          <p:cNvSpPr/>
          <p:nvPr/>
        </p:nvSpPr>
        <p:spPr>
          <a:xfrm>
            <a:off x="457200" y="2926080"/>
            <a:ext cx="2606040" cy="155448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22" name="Shape 19"/>
          <p:cNvSpPr/>
          <p:nvPr/>
        </p:nvSpPr>
        <p:spPr>
          <a:xfrm>
            <a:off x="640080" y="3108960"/>
            <a:ext cx="457200" cy="457200"/>
          </a:xfrm>
          <a:prstGeom prst="ellipse">
            <a:avLst/>
          </a:prstGeom>
          <a:solidFill>
            <a:srgbClr val="0B7A68"/>
          </a:solidFill>
          <a:ln w="12700">
            <a:solidFill>
              <a:srgbClr val="0B7A68"/>
            </a:solidFill>
            <a:prstDash val="solid"/>
          </a:ln>
        </p:spPr>
      </p:sp>
      <p:sp>
        <p:nvSpPr>
          <p:cNvPr id="23" name="Text 20"/>
          <p:cNvSpPr txBox="1"/>
          <p:nvPr/>
        </p:nvSpPr>
        <p:spPr>
          <a:xfrm>
            <a:off x="640080" y="3108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1"/>
          <p:cNvSpPr txBox="1"/>
          <p:nvPr/>
        </p:nvSpPr>
        <p:spPr>
          <a:xfrm>
            <a:off x="1234440" y="3127248"/>
            <a:ext cx="1737360" cy="411480"/>
          </a:xfrm>
          <a:prstGeom prst="rect">
            <a:avLst/>
          </a:prstGeom>
          <a:noFill/>
          <a:ln/>
        </p:spPr>
        <p:txBody>
          <a:bodyPr wrap="square" lIns="0" tIns="0" rIns="0" bIns="0" rtlCol="0" anchor="ctr"/>
          <a:lstStyle/>
          <a:p>
            <a:pPr indent="0" marL="0">
              <a:buNone/>
            </a:pPr>
            <a:r>
              <a:rPr lang="en-US" sz="2000" b="1" dirty="0">
                <a:solidFill>
                  <a:srgbClr val="0B1220"/>
                </a:solidFill>
                <a:latin typeface="Cambria" pitchFamily="34" charset="0"/>
                <a:ea typeface="Cambria" pitchFamily="34" charset="-122"/>
                <a:cs typeface="Cambria" pitchFamily="34" charset="-120"/>
              </a:rPr>
              <a:t>Compare</a:t>
            </a:r>
            <a:endParaRPr lang="en-US" sz="2000" dirty="0"/>
          </a:p>
        </p:txBody>
      </p:sp>
      <p:sp>
        <p:nvSpPr>
          <p:cNvPr id="25" name="Text 22"/>
          <p:cNvSpPr txBox="1"/>
          <p:nvPr/>
        </p:nvSpPr>
        <p:spPr>
          <a:xfrm>
            <a:off x="640080" y="3749040"/>
            <a:ext cx="2286000" cy="640080"/>
          </a:xfrm>
          <a:prstGeom prst="rect">
            <a:avLst/>
          </a:prstGeom>
          <a:noFill/>
          <a:ln/>
        </p:spPr>
        <p:txBody>
          <a:bodyPr wrap="square" lIns="0" tIns="0" rIns="0" bIns="0" rtlCol="0" anchor="t"/>
          <a:lstStyle/>
          <a:p>
            <a:pPr indent="0" marL="0">
              <a:buNone/>
            </a:pPr>
            <a:r>
              <a:rPr lang="en-US" sz="1400" dirty="0">
                <a:solidFill>
                  <a:srgbClr val="56657D"/>
                </a:solidFill>
                <a:latin typeface="Calibri" pitchFamily="34" charset="0"/>
                <a:ea typeface="Calibri" pitchFamily="34" charset="-122"/>
                <a:cs typeface="Calibri" pitchFamily="34" charset="-120"/>
              </a:rPr>
              <a:t>Nmap vs. Windows sockets and processes</a:t>
            </a:r>
            <a:endParaRPr lang="en-US" sz="1400" dirty="0"/>
          </a:p>
        </p:txBody>
      </p:sp>
      <p:sp>
        <p:nvSpPr>
          <p:cNvPr id="26" name="Shape 23"/>
          <p:cNvSpPr/>
          <p:nvPr/>
        </p:nvSpPr>
        <p:spPr>
          <a:xfrm>
            <a:off x="3246120" y="2926080"/>
            <a:ext cx="2606040" cy="155448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27" name="Shape 24"/>
          <p:cNvSpPr/>
          <p:nvPr/>
        </p:nvSpPr>
        <p:spPr>
          <a:xfrm>
            <a:off x="3429000" y="3108960"/>
            <a:ext cx="457200" cy="457200"/>
          </a:xfrm>
          <a:prstGeom prst="ellipse">
            <a:avLst/>
          </a:prstGeom>
          <a:solidFill>
            <a:srgbClr val="0B7A68"/>
          </a:solidFill>
          <a:ln w="12700">
            <a:solidFill>
              <a:srgbClr val="0B7A68"/>
            </a:solidFill>
            <a:prstDash val="solid"/>
          </a:ln>
        </p:spPr>
      </p:sp>
      <p:sp>
        <p:nvSpPr>
          <p:cNvPr id="28" name="Text 25"/>
          <p:cNvSpPr txBox="1"/>
          <p:nvPr/>
        </p:nvSpPr>
        <p:spPr>
          <a:xfrm>
            <a:off x="3429000" y="3108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txBox="1"/>
          <p:nvPr/>
        </p:nvSpPr>
        <p:spPr>
          <a:xfrm>
            <a:off x="4023360" y="3127248"/>
            <a:ext cx="1737360" cy="411480"/>
          </a:xfrm>
          <a:prstGeom prst="rect">
            <a:avLst/>
          </a:prstGeom>
          <a:noFill/>
          <a:ln/>
        </p:spPr>
        <p:txBody>
          <a:bodyPr wrap="square" lIns="0" tIns="0" rIns="0" bIns="0" rtlCol="0" anchor="ctr"/>
          <a:lstStyle/>
          <a:p>
            <a:pPr indent="0" marL="0">
              <a:buNone/>
            </a:pPr>
            <a:r>
              <a:rPr lang="en-US" sz="2000" b="1" dirty="0">
                <a:solidFill>
                  <a:srgbClr val="0B1220"/>
                </a:solidFill>
                <a:latin typeface="Cambria" pitchFamily="34" charset="0"/>
                <a:ea typeface="Cambria" pitchFamily="34" charset="-122"/>
                <a:cs typeface="Cambria" pitchFamily="34" charset="-120"/>
              </a:rPr>
              <a:t>Inspect</a:t>
            </a:r>
            <a:endParaRPr lang="en-US" sz="2000" dirty="0"/>
          </a:p>
        </p:txBody>
      </p:sp>
      <p:sp>
        <p:nvSpPr>
          <p:cNvPr id="30" name="Text 27"/>
          <p:cNvSpPr txBox="1"/>
          <p:nvPr/>
        </p:nvSpPr>
        <p:spPr>
          <a:xfrm>
            <a:off x="3429000" y="3749040"/>
            <a:ext cx="2286000" cy="640080"/>
          </a:xfrm>
          <a:prstGeom prst="rect">
            <a:avLst/>
          </a:prstGeom>
          <a:noFill/>
          <a:ln/>
        </p:spPr>
        <p:txBody>
          <a:bodyPr wrap="square" lIns="0" tIns="0" rIns="0" bIns="0" rtlCol="0" anchor="t"/>
          <a:lstStyle/>
          <a:p>
            <a:pPr indent="0" marL="0">
              <a:buNone/>
            </a:pPr>
            <a:r>
              <a:rPr lang="en-US" sz="1400" dirty="0">
                <a:solidFill>
                  <a:srgbClr val="56657D"/>
                </a:solidFill>
                <a:latin typeface="Calibri" pitchFamily="34" charset="0"/>
                <a:ea typeface="Calibri" pitchFamily="34" charset="-122"/>
                <a:cs typeface="Calibri" pitchFamily="34" charset="-120"/>
              </a:rPr>
              <a:t>Firewall profiles, SMB settings, shares</a:t>
            </a:r>
            <a:endParaRPr lang="en-US" sz="1400" dirty="0"/>
          </a:p>
        </p:txBody>
      </p:sp>
      <p:sp>
        <p:nvSpPr>
          <p:cNvPr id="31" name="Shape 28"/>
          <p:cNvSpPr/>
          <p:nvPr/>
        </p:nvSpPr>
        <p:spPr>
          <a:xfrm>
            <a:off x="6035040" y="2926080"/>
            <a:ext cx="2606040" cy="155448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32" name="Shape 29"/>
          <p:cNvSpPr/>
          <p:nvPr/>
        </p:nvSpPr>
        <p:spPr>
          <a:xfrm>
            <a:off x="6217920" y="3108960"/>
            <a:ext cx="457200" cy="457200"/>
          </a:xfrm>
          <a:prstGeom prst="ellipse">
            <a:avLst/>
          </a:prstGeom>
          <a:solidFill>
            <a:srgbClr val="0B7A68"/>
          </a:solidFill>
          <a:ln w="12700">
            <a:solidFill>
              <a:srgbClr val="0B7A68"/>
            </a:solidFill>
            <a:prstDash val="solid"/>
          </a:ln>
        </p:spPr>
      </p:sp>
      <p:sp>
        <p:nvSpPr>
          <p:cNvPr id="33" name="Text 30"/>
          <p:cNvSpPr txBox="1"/>
          <p:nvPr/>
        </p:nvSpPr>
        <p:spPr>
          <a:xfrm>
            <a:off x="6217920" y="3108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4" name="Text 31"/>
          <p:cNvSpPr txBox="1"/>
          <p:nvPr/>
        </p:nvSpPr>
        <p:spPr>
          <a:xfrm>
            <a:off x="6812280" y="3127248"/>
            <a:ext cx="1737360" cy="411480"/>
          </a:xfrm>
          <a:prstGeom prst="rect">
            <a:avLst/>
          </a:prstGeom>
          <a:noFill/>
          <a:ln/>
        </p:spPr>
        <p:txBody>
          <a:bodyPr wrap="square" lIns="0" tIns="0" rIns="0" bIns="0" rtlCol="0" anchor="ctr"/>
          <a:lstStyle/>
          <a:p>
            <a:pPr indent="0" marL="0">
              <a:buNone/>
            </a:pPr>
            <a:r>
              <a:rPr lang="en-US" sz="2000" b="1" dirty="0">
                <a:solidFill>
                  <a:srgbClr val="0B1220"/>
                </a:solidFill>
                <a:latin typeface="Cambria" pitchFamily="34" charset="0"/>
                <a:ea typeface="Cambria" pitchFamily="34" charset="-122"/>
                <a:cs typeface="Cambria" pitchFamily="34" charset="-120"/>
              </a:rPr>
              <a:t>Recommend</a:t>
            </a:r>
            <a:endParaRPr lang="en-US" sz="2000" dirty="0"/>
          </a:p>
        </p:txBody>
      </p:sp>
      <p:sp>
        <p:nvSpPr>
          <p:cNvPr id="35" name="Text 32"/>
          <p:cNvSpPr txBox="1"/>
          <p:nvPr/>
        </p:nvSpPr>
        <p:spPr>
          <a:xfrm>
            <a:off x="6217920" y="3749040"/>
            <a:ext cx="2286000" cy="640080"/>
          </a:xfrm>
          <a:prstGeom prst="rect">
            <a:avLst/>
          </a:prstGeom>
          <a:noFill/>
          <a:ln/>
        </p:spPr>
        <p:txBody>
          <a:bodyPr wrap="square" lIns="0" tIns="0" rIns="0" bIns="0" rtlCol="0" anchor="t"/>
          <a:lstStyle/>
          <a:p>
            <a:pPr indent="0" marL="0">
              <a:buNone/>
            </a:pPr>
            <a:r>
              <a:rPr lang="en-US" sz="1400" dirty="0">
                <a:solidFill>
                  <a:srgbClr val="56657D"/>
                </a:solidFill>
                <a:latin typeface="Calibri" pitchFamily="34" charset="0"/>
                <a:ea typeface="Calibri" pitchFamily="34" charset="-122"/>
                <a:cs typeface="Calibri" pitchFamily="34" charset="-120"/>
              </a:rPr>
              <a:t>State limits, suggest defensive actions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B1220"/>
                </a:solidFill>
                <a:latin typeface="Cambria" pitchFamily="34" charset="0"/>
                <a:ea typeface="Cambria" pitchFamily="34" charset="-122"/>
                <a:cs typeface="Cambria" pitchFamily="34" charset="-120"/>
              </a:rPr>
              <a:t>Scope and authorization</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1000" dirty="0">
                <a:solidFill>
                  <a:srgbClr val="56657D"/>
                </a:solidFill>
                <a:latin typeface="Calibri" pitchFamily="34" charset="0"/>
                <a:ea typeface="Calibri" pitchFamily="34" charset="-122"/>
                <a:cs typeface="Calibri" pitchFamily="34" charset="-120"/>
              </a:rPr>
              <a:t>Group 36 · Nmap Case Study</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1000" dirty="0">
                <a:solidFill>
                  <a:srgbClr val="56657D"/>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457200" y="1188720"/>
            <a:ext cx="3977640" cy="310896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4709160" y="1188720"/>
            <a:ext cx="3977640" cy="310896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685800" y="1371600"/>
            <a:ext cx="457200" cy="457200"/>
          </a:xfrm>
          <a:prstGeom prst="ellipse">
            <a:avLst/>
          </a:prstGeom>
          <a:solidFill>
            <a:srgbClr val="0B7A68"/>
          </a:solidFill>
          <a:ln w="12700">
            <a:solidFill>
              <a:srgbClr val="0B7A68"/>
            </a:solidFill>
            <a:prstDash val="solid"/>
          </a:ln>
        </p:spPr>
      </p:sp>
      <p:sp>
        <p:nvSpPr>
          <p:cNvPr id="9" name="Text 6"/>
          <p:cNvSpPr txBox="1"/>
          <p:nvPr/>
        </p:nvSpPr>
        <p:spPr>
          <a:xfrm>
            <a:off x="685800" y="1371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7"/>
          <p:cNvSpPr txBox="1"/>
          <p:nvPr/>
        </p:nvSpPr>
        <p:spPr>
          <a:xfrm>
            <a:off x="1280160" y="1371600"/>
            <a:ext cx="2926080" cy="457200"/>
          </a:xfrm>
          <a:prstGeom prst="rect">
            <a:avLst/>
          </a:prstGeom>
          <a:noFill/>
          <a:ln/>
        </p:spPr>
        <p:txBody>
          <a:bodyPr wrap="square" lIns="0" tIns="0" rIns="0" bIns="0" rtlCol="0" anchor="ctr"/>
          <a:lstStyle/>
          <a:p>
            <a:pPr indent="0" marL="0">
              <a:buNone/>
            </a:pPr>
            <a:r>
              <a:rPr lang="en-US" sz="2200" b="1" dirty="0">
                <a:solidFill>
                  <a:srgbClr val="0B1220"/>
                </a:solidFill>
                <a:latin typeface="Cambria" pitchFamily="34" charset="0"/>
                <a:ea typeface="Cambria" pitchFamily="34" charset="-122"/>
                <a:cs typeface="Cambria" pitchFamily="34" charset="-120"/>
              </a:rPr>
              <a:t>What we did</a:t>
            </a:r>
            <a:endParaRPr lang="en-US" sz="2200" dirty="0"/>
          </a:p>
        </p:txBody>
      </p:sp>
      <p:sp>
        <p:nvSpPr>
          <p:cNvPr id="11" name="Text 8"/>
          <p:cNvSpPr txBox="1"/>
          <p:nvPr/>
        </p:nvSpPr>
        <p:spPr>
          <a:xfrm>
            <a:off x="731520" y="2011680"/>
            <a:ext cx="347472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B1220"/>
                </a:solidFill>
                <a:latin typeface="Calibri" pitchFamily="34" charset="0"/>
                <a:ea typeface="Calibri" pitchFamily="34" charset="-122"/>
                <a:cs typeface="Calibri" pitchFamily="34" charset="-120"/>
              </a:rPr>
              <a:t>Assessed our own laptop only</a:t>
            </a:r>
            <a:endParaRPr lang="en-US" sz="1600" dirty="0"/>
          </a:p>
          <a:p>
            <a:pPr marL="342900" indent="-342900">
              <a:spcAft>
                <a:spcPts val="800"/>
              </a:spcAft>
              <a:buSzPct val="100000"/>
              <a:buChar char="•"/>
            </a:pPr>
            <a:r>
              <a:rPr lang="en-US" sz="1600" dirty="0">
                <a:solidFill>
                  <a:srgbClr val="0B1220"/>
                </a:solidFill>
                <a:latin typeface="Calibri" pitchFamily="34" charset="0"/>
                <a:ea typeface="Calibri" pitchFamily="34" charset="-122"/>
                <a:cs typeface="Calibri" pitchFamily="34" charset="-120"/>
              </a:rPr>
              <a:t>Target: 127.0.0.1 (localhost)</a:t>
            </a:r>
            <a:endParaRPr lang="en-US" sz="1600" dirty="0"/>
          </a:p>
          <a:p>
            <a:pPr marL="342900" indent="-342900">
              <a:spcAft>
                <a:spcPts val="800"/>
              </a:spcAft>
              <a:buSzPct val="100000"/>
              <a:buChar char="•"/>
            </a:pPr>
            <a:r>
              <a:rPr lang="en-US" sz="1600" dirty="0">
                <a:solidFill>
                  <a:srgbClr val="0B1220"/>
                </a:solidFill>
                <a:latin typeface="Calibri" pitchFamily="34" charset="0"/>
                <a:ea typeface="Calibri" pitchFamily="34" charset="-122"/>
                <a:cs typeface="Calibri" pitchFamily="34" charset="-120"/>
              </a:rPr>
              <a:t>Observation and configuration checks</a:t>
            </a:r>
            <a:endParaRPr lang="en-US" sz="1600" dirty="0"/>
          </a:p>
          <a:p>
            <a:pPr marL="342900" indent="-342900">
              <a:spcAft>
                <a:spcPts val="800"/>
              </a:spcAft>
              <a:buSzPct val="100000"/>
              <a:buChar char="•"/>
            </a:pPr>
            <a:r>
              <a:rPr lang="en-US" sz="1600" dirty="0">
                <a:solidFill>
                  <a:srgbClr val="0B1220"/>
                </a:solidFill>
                <a:latin typeface="Calibri" pitchFamily="34" charset="0"/>
                <a:ea typeface="Calibri" pitchFamily="34" charset="-122"/>
                <a:cs typeface="Calibri" pitchFamily="34" charset="-120"/>
              </a:rPr>
              <a:t>Enabled firewall; verified the result</a:t>
            </a:r>
            <a:endParaRPr lang="en-US" sz="1600" dirty="0"/>
          </a:p>
        </p:txBody>
      </p:sp>
      <p:sp>
        <p:nvSpPr>
          <p:cNvPr id="12" name="Shape 9"/>
          <p:cNvSpPr/>
          <p:nvPr/>
        </p:nvSpPr>
        <p:spPr>
          <a:xfrm>
            <a:off x="4937760" y="1371600"/>
            <a:ext cx="457200" cy="457200"/>
          </a:xfrm>
          <a:prstGeom prst="ellipse">
            <a:avLst/>
          </a:prstGeom>
          <a:solidFill>
            <a:srgbClr val="E5604D"/>
          </a:solidFill>
          <a:ln w="12700">
            <a:solidFill>
              <a:srgbClr val="E5604D"/>
            </a:solidFill>
            <a:prstDash val="solid"/>
          </a:ln>
        </p:spPr>
      </p:sp>
      <p:sp>
        <p:nvSpPr>
          <p:cNvPr id="13" name="Text 10"/>
          <p:cNvSpPr txBox="1"/>
          <p:nvPr/>
        </p:nvSpPr>
        <p:spPr>
          <a:xfrm>
            <a:off x="4937760" y="1371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4" name="Text 11"/>
          <p:cNvSpPr txBox="1"/>
          <p:nvPr/>
        </p:nvSpPr>
        <p:spPr>
          <a:xfrm>
            <a:off x="5532120" y="1371600"/>
            <a:ext cx="2926080" cy="457200"/>
          </a:xfrm>
          <a:prstGeom prst="rect">
            <a:avLst/>
          </a:prstGeom>
          <a:noFill/>
          <a:ln/>
        </p:spPr>
        <p:txBody>
          <a:bodyPr wrap="square" lIns="0" tIns="0" rIns="0" bIns="0" rtlCol="0" anchor="ctr"/>
          <a:lstStyle/>
          <a:p>
            <a:pPr indent="0" marL="0">
              <a:buNone/>
            </a:pPr>
            <a:r>
              <a:rPr lang="en-US" sz="2200" b="1" dirty="0">
                <a:solidFill>
                  <a:srgbClr val="0B1220"/>
                </a:solidFill>
                <a:latin typeface="Cambria" pitchFamily="34" charset="0"/>
                <a:ea typeface="Cambria" pitchFamily="34" charset="-122"/>
                <a:cs typeface="Cambria" pitchFamily="34" charset="-120"/>
              </a:rPr>
              <a:t>What we did not do</a:t>
            </a:r>
            <a:endParaRPr lang="en-US" sz="2200" dirty="0"/>
          </a:p>
        </p:txBody>
      </p:sp>
      <p:sp>
        <p:nvSpPr>
          <p:cNvPr id="15" name="Text 12"/>
          <p:cNvSpPr txBox="1"/>
          <p:nvPr/>
        </p:nvSpPr>
        <p:spPr>
          <a:xfrm>
            <a:off x="4983480" y="2011680"/>
            <a:ext cx="347472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B1220"/>
                </a:solidFill>
                <a:latin typeface="Calibri" pitchFamily="34" charset="0"/>
                <a:ea typeface="Calibri" pitchFamily="34" charset="-122"/>
                <a:cs typeface="Calibri" pitchFamily="34" charset="-120"/>
              </a:rPr>
              <a:t>Scan any external or third-party host</a:t>
            </a:r>
            <a:endParaRPr lang="en-US" sz="1600" dirty="0"/>
          </a:p>
          <a:p>
            <a:pPr marL="342900" indent="-342900">
              <a:spcAft>
                <a:spcPts val="800"/>
              </a:spcAft>
              <a:buSzPct val="100000"/>
              <a:buChar char="•"/>
            </a:pPr>
            <a:r>
              <a:rPr lang="en-US" sz="1600" dirty="0">
                <a:solidFill>
                  <a:srgbClr val="0B1220"/>
                </a:solidFill>
                <a:latin typeface="Calibri" pitchFamily="34" charset="0"/>
                <a:ea typeface="Calibri" pitchFamily="34" charset="-122"/>
                <a:cs typeface="Calibri" pitchFamily="34" charset="-120"/>
              </a:rPr>
              <a:t>Exploit any service</a:t>
            </a:r>
            <a:endParaRPr lang="en-US" sz="1600" dirty="0"/>
          </a:p>
          <a:p>
            <a:pPr marL="342900" indent="-342900">
              <a:spcAft>
                <a:spcPts val="800"/>
              </a:spcAft>
              <a:buSzPct val="100000"/>
              <a:buChar char="•"/>
            </a:pPr>
            <a:r>
              <a:rPr lang="en-US" sz="1600" dirty="0">
                <a:solidFill>
                  <a:srgbClr val="0B1220"/>
                </a:solidFill>
                <a:latin typeface="Calibri" pitchFamily="34" charset="0"/>
                <a:ea typeface="Calibri" pitchFamily="34" charset="-122"/>
                <a:cs typeface="Calibri" pitchFamily="34" charset="-120"/>
              </a:rPr>
              <a:t>Attempt credential access</a:t>
            </a:r>
            <a:endParaRPr lang="en-US" sz="1600" dirty="0"/>
          </a:p>
          <a:p>
            <a:pPr marL="342900" indent="-342900">
              <a:spcAft>
                <a:spcPts val="800"/>
              </a:spcAft>
              <a:buSzPct val="100000"/>
              <a:buChar char="•"/>
            </a:pPr>
            <a:r>
              <a:rPr lang="en-US" sz="1600" dirty="0">
                <a:solidFill>
                  <a:srgbClr val="0B1220"/>
                </a:solidFill>
                <a:latin typeface="Calibri" pitchFamily="34" charset="0"/>
                <a:ea typeface="Calibri" pitchFamily="34" charset="-122"/>
                <a:cs typeface="Calibri" pitchFamily="34" charset="-120"/>
              </a:rPr>
              <a:t>Change SMB settings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B1220"/>
                </a:solidFill>
                <a:latin typeface="Cambria" pitchFamily="34" charset="0"/>
                <a:ea typeface="Cambria" pitchFamily="34" charset="-122"/>
                <a:cs typeface="Cambria" pitchFamily="34" charset="-120"/>
              </a:rPr>
              <a:t>Background: what guided the work</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1000" dirty="0">
                <a:solidFill>
                  <a:srgbClr val="56657D"/>
                </a:solidFill>
                <a:latin typeface="Calibri" pitchFamily="34" charset="0"/>
                <a:ea typeface="Calibri" pitchFamily="34" charset="-122"/>
                <a:cs typeface="Calibri" pitchFamily="34" charset="-120"/>
              </a:rPr>
              <a:t>Group 36 · Nmap Case Study</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1000" dirty="0">
                <a:solidFill>
                  <a:srgbClr val="56657D"/>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457200" y="1188720"/>
            <a:ext cx="3977640" cy="146304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85800" y="1325880"/>
            <a:ext cx="3520440" cy="365760"/>
          </a:xfrm>
          <a:prstGeom prst="rect">
            <a:avLst/>
          </a:prstGeom>
          <a:noFill/>
          <a:ln/>
        </p:spPr>
        <p:txBody>
          <a:bodyPr wrap="square" lIns="0" tIns="0" rIns="0" bIns="0" rtlCol="0" anchor="t"/>
          <a:lstStyle/>
          <a:p>
            <a:pPr indent="0" marL="0">
              <a:buNone/>
            </a:pPr>
            <a:r>
              <a:rPr lang="en-US" sz="1900" b="1" dirty="0">
                <a:solidFill>
                  <a:srgbClr val="0B7A68"/>
                </a:solidFill>
                <a:latin typeface="Cambria" pitchFamily="34" charset="0"/>
                <a:ea typeface="Cambria" pitchFamily="34" charset="-122"/>
                <a:cs typeface="Cambria" pitchFamily="34" charset="-120"/>
              </a:rPr>
              <a:t>Nmap guide</a:t>
            </a:r>
            <a:endParaRPr lang="en-US" sz="1900" dirty="0"/>
          </a:p>
        </p:txBody>
      </p:sp>
      <p:sp>
        <p:nvSpPr>
          <p:cNvPr id="8" name="Text 5"/>
          <p:cNvSpPr txBox="1"/>
          <p:nvPr/>
        </p:nvSpPr>
        <p:spPr>
          <a:xfrm>
            <a:off x="685800" y="1755648"/>
            <a:ext cx="3520440" cy="822960"/>
          </a:xfrm>
          <a:prstGeom prst="rect">
            <a:avLst/>
          </a:prstGeom>
          <a:noFill/>
          <a:ln/>
        </p:spPr>
        <p:txBody>
          <a:bodyPr wrap="square" lIns="0" tIns="0" rIns="0" bIns="0" rtlCol="0" anchor="t"/>
          <a:lstStyle/>
          <a:p>
            <a:pPr indent="0" marL="0">
              <a:buNone/>
            </a:pPr>
            <a:r>
              <a:rPr lang="en-US" sz="1400" dirty="0">
                <a:solidFill>
                  <a:srgbClr val="0B1220"/>
                </a:solidFill>
                <a:latin typeface="Calibri" pitchFamily="34" charset="0"/>
                <a:ea typeface="Calibri" pitchFamily="34" charset="-122"/>
                <a:cs typeface="Calibri" pitchFamily="34" charset="-120"/>
              </a:rPr>
              <a:t>Ports are open, closed or filtered; connect scans and service probes; save output to compare</a:t>
            </a:r>
            <a:endParaRPr lang="en-US" sz="1400" dirty="0"/>
          </a:p>
        </p:txBody>
      </p:sp>
      <p:sp>
        <p:nvSpPr>
          <p:cNvPr id="9" name="Shape 6"/>
          <p:cNvSpPr/>
          <p:nvPr/>
        </p:nvSpPr>
        <p:spPr>
          <a:xfrm>
            <a:off x="4709160" y="1188720"/>
            <a:ext cx="3977640" cy="146304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4937760" y="1325880"/>
            <a:ext cx="3520440" cy="365760"/>
          </a:xfrm>
          <a:prstGeom prst="rect">
            <a:avLst/>
          </a:prstGeom>
          <a:noFill/>
          <a:ln/>
        </p:spPr>
        <p:txBody>
          <a:bodyPr wrap="square" lIns="0" tIns="0" rIns="0" bIns="0" rtlCol="0" anchor="t"/>
          <a:lstStyle/>
          <a:p>
            <a:pPr indent="0" marL="0">
              <a:buNone/>
            </a:pPr>
            <a:r>
              <a:rPr lang="en-US" sz="1900" b="1" dirty="0">
                <a:solidFill>
                  <a:srgbClr val="0B7A68"/>
                </a:solidFill>
                <a:latin typeface="Cambria" pitchFamily="34" charset="0"/>
                <a:ea typeface="Cambria" pitchFamily="34" charset="-122"/>
                <a:cs typeface="Cambria" pitchFamily="34" charset="-120"/>
              </a:rPr>
              <a:t>NIST SP 800-115</a:t>
            </a:r>
            <a:endParaRPr lang="en-US" sz="1900" dirty="0"/>
          </a:p>
        </p:txBody>
      </p:sp>
      <p:sp>
        <p:nvSpPr>
          <p:cNvPr id="11" name="Text 8"/>
          <p:cNvSpPr txBox="1"/>
          <p:nvPr/>
        </p:nvSpPr>
        <p:spPr>
          <a:xfrm>
            <a:off x="4937760" y="1755648"/>
            <a:ext cx="3520440" cy="822960"/>
          </a:xfrm>
          <a:prstGeom prst="rect">
            <a:avLst/>
          </a:prstGeom>
          <a:noFill/>
          <a:ln/>
        </p:spPr>
        <p:txBody>
          <a:bodyPr wrap="square" lIns="0" tIns="0" rIns="0" bIns="0" rtlCol="0" anchor="t"/>
          <a:lstStyle/>
          <a:p>
            <a:pPr indent="0" marL="0">
              <a:buNone/>
            </a:pPr>
            <a:r>
              <a:rPr lang="en-US" sz="1400" dirty="0">
                <a:solidFill>
                  <a:srgbClr val="0B1220"/>
                </a:solidFill>
                <a:latin typeface="Calibri" pitchFamily="34" charset="0"/>
                <a:ea typeface="Calibri" pitchFamily="34" charset="-122"/>
                <a:cs typeface="Calibri" pitchFamily="34" charset="-120"/>
              </a:rPr>
              <a:t>Plan, conduct in scope, analyze, then recommend mitigations</a:t>
            </a:r>
            <a:endParaRPr lang="en-US" sz="1400" dirty="0"/>
          </a:p>
        </p:txBody>
      </p:sp>
      <p:sp>
        <p:nvSpPr>
          <p:cNvPr id="12" name="Shape 9"/>
          <p:cNvSpPr/>
          <p:nvPr/>
        </p:nvSpPr>
        <p:spPr>
          <a:xfrm>
            <a:off x="457200" y="2834640"/>
            <a:ext cx="3977640" cy="146304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685800" y="2971800"/>
            <a:ext cx="3520440" cy="365760"/>
          </a:xfrm>
          <a:prstGeom prst="rect">
            <a:avLst/>
          </a:prstGeom>
          <a:noFill/>
          <a:ln/>
        </p:spPr>
        <p:txBody>
          <a:bodyPr wrap="square" lIns="0" tIns="0" rIns="0" bIns="0" rtlCol="0" anchor="t"/>
          <a:lstStyle/>
          <a:p>
            <a:pPr indent="0" marL="0">
              <a:buNone/>
            </a:pPr>
            <a:r>
              <a:rPr lang="en-US" sz="1900" b="1" dirty="0">
                <a:solidFill>
                  <a:srgbClr val="0B7A68"/>
                </a:solidFill>
                <a:latin typeface="Cambria" pitchFamily="34" charset="0"/>
                <a:ea typeface="Cambria" pitchFamily="34" charset="-122"/>
                <a:cs typeface="Cambria" pitchFamily="34" charset="-120"/>
              </a:rPr>
              <a:t>Windows Firewall &amp; SMB</a:t>
            </a:r>
            <a:endParaRPr lang="en-US" sz="1900" dirty="0"/>
          </a:p>
        </p:txBody>
      </p:sp>
      <p:sp>
        <p:nvSpPr>
          <p:cNvPr id="14" name="Text 11"/>
          <p:cNvSpPr txBox="1"/>
          <p:nvPr/>
        </p:nvSpPr>
        <p:spPr>
          <a:xfrm>
            <a:off x="685800" y="3401568"/>
            <a:ext cx="3520440" cy="822960"/>
          </a:xfrm>
          <a:prstGeom prst="rect">
            <a:avLst/>
          </a:prstGeom>
          <a:noFill/>
          <a:ln/>
        </p:spPr>
        <p:txBody>
          <a:bodyPr wrap="square" lIns="0" tIns="0" rIns="0" bIns="0" rtlCol="0" anchor="t"/>
          <a:lstStyle/>
          <a:p>
            <a:pPr indent="0" marL="0">
              <a:buNone/>
            </a:pPr>
            <a:r>
              <a:rPr lang="en-US" sz="1400" dirty="0">
                <a:solidFill>
                  <a:srgbClr val="0B1220"/>
                </a:solidFill>
                <a:latin typeface="Calibri" pitchFamily="34" charset="0"/>
                <a:ea typeface="Calibri" pitchFamily="34" charset="-122"/>
                <a:cs typeface="Calibri" pitchFamily="34" charset="-120"/>
              </a:rPr>
              <a:t>Host-based filtering by profile; limit SMB exposure; disable SMB1</a:t>
            </a:r>
            <a:endParaRPr lang="en-US" sz="1400" dirty="0"/>
          </a:p>
        </p:txBody>
      </p:sp>
      <p:sp>
        <p:nvSpPr>
          <p:cNvPr id="15" name="Shape 12"/>
          <p:cNvSpPr/>
          <p:nvPr/>
        </p:nvSpPr>
        <p:spPr>
          <a:xfrm>
            <a:off x="4709160" y="2834640"/>
            <a:ext cx="3977640" cy="146304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4937760" y="2971800"/>
            <a:ext cx="3520440" cy="365760"/>
          </a:xfrm>
          <a:prstGeom prst="rect">
            <a:avLst/>
          </a:prstGeom>
          <a:noFill/>
          <a:ln/>
        </p:spPr>
        <p:txBody>
          <a:bodyPr wrap="square" lIns="0" tIns="0" rIns="0" bIns="0" rtlCol="0" anchor="t"/>
          <a:lstStyle/>
          <a:p>
            <a:pPr indent="0" marL="0">
              <a:buNone/>
            </a:pPr>
            <a:r>
              <a:rPr lang="en-US" sz="1900" b="1" dirty="0">
                <a:solidFill>
                  <a:srgbClr val="0B7A68"/>
                </a:solidFill>
                <a:latin typeface="Cambria" pitchFamily="34" charset="0"/>
                <a:ea typeface="Cambria" pitchFamily="34" charset="-122"/>
                <a:cs typeface="Cambria" pitchFamily="34" charset="-120"/>
              </a:rPr>
              <a:t>MITRE ATT&amp;CK T1046</a:t>
            </a:r>
            <a:endParaRPr lang="en-US" sz="1900" dirty="0"/>
          </a:p>
        </p:txBody>
      </p:sp>
      <p:sp>
        <p:nvSpPr>
          <p:cNvPr id="17" name="Text 14"/>
          <p:cNvSpPr txBox="1"/>
          <p:nvPr/>
        </p:nvSpPr>
        <p:spPr>
          <a:xfrm>
            <a:off x="4937760" y="3401568"/>
            <a:ext cx="3520440" cy="822960"/>
          </a:xfrm>
          <a:prstGeom prst="rect">
            <a:avLst/>
          </a:prstGeom>
          <a:noFill/>
          <a:ln/>
        </p:spPr>
        <p:txBody>
          <a:bodyPr wrap="square" lIns="0" tIns="0" rIns="0" bIns="0" rtlCol="0" anchor="t"/>
          <a:lstStyle/>
          <a:p>
            <a:pPr indent="0" marL="0">
              <a:buNone/>
            </a:pPr>
            <a:r>
              <a:rPr lang="en-US" sz="1400" dirty="0">
                <a:solidFill>
                  <a:srgbClr val="0B1220"/>
                </a:solidFill>
                <a:latin typeface="Calibri" pitchFamily="34" charset="0"/>
                <a:ea typeface="Calibri" pitchFamily="34" charset="-122"/>
                <a:cs typeface="Calibri" pitchFamily="34" charset="-120"/>
              </a:rPr>
              <a:t>Adversaries enumerate services, so defenders must know what listens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B1220"/>
                </a:solidFill>
                <a:latin typeface="Cambria" pitchFamily="34" charset="0"/>
                <a:ea typeface="Cambria" pitchFamily="34" charset="-122"/>
                <a:cs typeface="Cambria" pitchFamily="34" charset="-120"/>
              </a:rPr>
              <a:t>Methodology: a staged workflow</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1000" dirty="0">
                <a:solidFill>
                  <a:srgbClr val="56657D"/>
                </a:solidFill>
                <a:latin typeface="Calibri" pitchFamily="34" charset="0"/>
                <a:ea typeface="Calibri" pitchFamily="34" charset="-122"/>
                <a:cs typeface="Calibri" pitchFamily="34" charset="-120"/>
              </a:rPr>
              <a:t>Group 36 · Nmap Case Study</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1000" dirty="0">
                <a:solidFill>
                  <a:srgbClr val="56657D"/>
                </a:solidFill>
                <a:latin typeface="Calibri" pitchFamily="34" charset="0"/>
                <a:ea typeface="Calibri" pitchFamily="34" charset="-122"/>
                <a:cs typeface="Calibri" pitchFamily="34" charset="-120"/>
              </a:rPr>
              <a:t>6</a:t>
            </a:r>
            <a:endParaRPr lang="en-US" sz="1000" dirty="0"/>
          </a:p>
        </p:txBody>
      </p:sp>
      <p:sp>
        <p:nvSpPr>
          <p:cNvPr id="6" name="Shape 3"/>
          <p:cNvSpPr/>
          <p:nvPr/>
        </p:nvSpPr>
        <p:spPr>
          <a:xfrm>
            <a:off x="1005840" y="1874520"/>
            <a:ext cx="7132320" cy="0"/>
          </a:xfrm>
          <a:prstGeom prst="line">
            <a:avLst/>
          </a:prstGeom>
          <a:noFill/>
          <a:ln w="25400">
            <a:solidFill>
              <a:srgbClr val="B9C5D6"/>
            </a:solidFill>
            <a:prstDash val="solid"/>
          </a:ln>
        </p:spPr>
      </p:sp>
      <p:sp>
        <p:nvSpPr>
          <p:cNvPr id="7" name="Shape 4"/>
          <p:cNvSpPr/>
          <p:nvPr/>
        </p:nvSpPr>
        <p:spPr>
          <a:xfrm>
            <a:off x="777240" y="1554480"/>
            <a:ext cx="640080" cy="640080"/>
          </a:xfrm>
          <a:prstGeom prst="ellipse">
            <a:avLst/>
          </a:prstGeom>
          <a:solidFill>
            <a:srgbClr val="0B7A68"/>
          </a:solidFill>
          <a:ln w="12700">
            <a:solidFill>
              <a:srgbClr val="0B7A68"/>
            </a:solidFill>
            <a:prstDash val="solid"/>
          </a:ln>
        </p:spPr>
      </p:sp>
      <p:sp>
        <p:nvSpPr>
          <p:cNvPr id="8" name="Text 5"/>
          <p:cNvSpPr txBox="1"/>
          <p:nvPr/>
        </p:nvSpPr>
        <p:spPr>
          <a:xfrm>
            <a:off x="777240" y="1554480"/>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1</a:t>
            </a:r>
            <a:endParaRPr lang="en-US" sz="2100" dirty="0"/>
          </a:p>
        </p:txBody>
      </p:sp>
      <p:sp>
        <p:nvSpPr>
          <p:cNvPr id="9" name="Text 6"/>
          <p:cNvSpPr txBox="1"/>
          <p:nvPr/>
        </p:nvSpPr>
        <p:spPr>
          <a:xfrm>
            <a:off x="457200" y="2377440"/>
            <a:ext cx="1280160" cy="822960"/>
          </a:xfrm>
          <a:prstGeom prst="rect">
            <a:avLst/>
          </a:prstGeom>
          <a:noFill/>
          <a:ln/>
        </p:spPr>
        <p:txBody>
          <a:bodyPr wrap="square" lIns="0" tIns="0" rIns="0" bIns="0" rtlCol="0" anchor="t"/>
          <a:lstStyle/>
          <a:p>
            <a:pPr algn="ctr" indent="0" marL="0">
              <a:buNone/>
            </a:pPr>
            <a:r>
              <a:rPr lang="en-US" sz="1400" b="1" dirty="0">
                <a:solidFill>
                  <a:srgbClr val="0B1220"/>
                </a:solidFill>
                <a:latin typeface="Calibri" pitchFamily="34" charset="0"/>
                <a:ea typeface="Calibri" pitchFamily="34" charset="-122"/>
                <a:cs typeface="Calibri" pitchFamily="34" charset="-120"/>
              </a:rPr>
              <a:t>Install &amp; verify Nmap 7.992</a:t>
            </a:r>
            <a:endParaRPr lang="en-US" sz="1400" dirty="0"/>
          </a:p>
        </p:txBody>
      </p:sp>
      <p:sp>
        <p:nvSpPr>
          <p:cNvPr id="10" name="Shape 7"/>
          <p:cNvSpPr/>
          <p:nvPr/>
        </p:nvSpPr>
        <p:spPr>
          <a:xfrm>
            <a:off x="2148840" y="1554480"/>
            <a:ext cx="640080" cy="640080"/>
          </a:xfrm>
          <a:prstGeom prst="ellipse">
            <a:avLst/>
          </a:prstGeom>
          <a:solidFill>
            <a:srgbClr val="0B7A68"/>
          </a:solidFill>
          <a:ln w="12700">
            <a:solidFill>
              <a:srgbClr val="0B7A68"/>
            </a:solidFill>
            <a:prstDash val="solid"/>
          </a:ln>
        </p:spPr>
      </p:sp>
      <p:sp>
        <p:nvSpPr>
          <p:cNvPr id="11" name="Text 8"/>
          <p:cNvSpPr txBox="1"/>
          <p:nvPr/>
        </p:nvSpPr>
        <p:spPr>
          <a:xfrm>
            <a:off x="2148840" y="1554480"/>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2</a:t>
            </a:r>
            <a:endParaRPr lang="en-US" sz="2100" dirty="0"/>
          </a:p>
        </p:txBody>
      </p:sp>
      <p:sp>
        <p:nvSpPr>
          <p:cNvPr id="12" name="Text 9"/>
          <p:cNvSpPr txBox="1"/>
          <p:nvPr/>
        </p:nvSpPr>
        <p:spPr>
          <a:xfrm>
            <a:off x="1828800" y="2377440"/>
            <a:ext cx="1280160" cy="822960"/>
          </a:xfrm>
          <a:prstGeom prst="rect">
            <a:avLst/>
          </a:prstGeom>
          <a:noFill/>
          <a:ln/>
        </p:spPr>
        <p:txBody>
          <a:bodyPr wrap="square" lIns="0" tIns="0" rIns="0" bIns="0" rtlCol="0" anchor="t"/>
          <a:lstStyle/>
          <a:p>
            <a:pPr algn="ctr" indent="0" marL="0">
              <a:buNone/>
            </a:pPr>
            <a:r>
              <a:rPr lang="en-US" sz="1400" b="1" dirty="0">
                <a:solidFill>
                  <a:srgbClr val="0B1220"/>
                </a:solidFill>
                <a:latin typeface="Calibri" pitchFamily="34" charset="0"/>
                <a:ea typeface="Calibri" pitchFamily="34" charset="-122"/>
                <a:cs typeface="Calibri" pitchFamily="34" charset="-120"/>
              </a:rPr>
              <a:t>TCP connect scan</a:t>
            </a:r>
            <a:endParaRPr lang="en-US" sz="1400" dirty="0"/>
          </a:p>
        </p:txBody>
      </p:sp>
      <p:sp>
        <p:nvSpPr>
          <p:cNvPr id="13" name="Shape 10"/>
          <p:cNvSpPr/>
          <p:nvPr/>
        </p:nvSpPr>
        <p:spPr>
          <a:xfrm>
            <a:off x="3520440" y="1554480"/>
            <a:ext cx="640080" cy="640080"/>
          </a:xfrm>
          <a:prstGeom prst="ellipse">
            <a:avLst/>
          </a:prstGeom>
          <a:solidFill>
            <a:srgbClr val="0B7A68"/>
          </a:solidFill>
          <a:ln w="12700">
            <a:solidFill>
              <a:srgbClr val="0B7A68"/>
            </a:solidFill>
            <a:prstDash val="solid"/>
          </a:ln>
        </p:spPr>
      </p:sp>
      <p:sp>
        <p:nvSpPr>
          <p:cNvPr id="14" name="Text 11"/>
          <p:cNvSpPr txBox="1"/>
          <p:nvPr/>
        </p:nvSpPr>
        <p:spPr>
          <a:xfrm>
            <a:off x="3520440" y="1554480"/>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3</a:t>
            </a:r>
            <a:endParaRPr lang="en-US" sz="2100" dirty="0"/>
          </a:p>
        </p:txBody>
      </p:sp>
      <p:sp>
        <p:nvSpPr>
          <p:cNvPr id="15" name="Text 12"/>
          <p:cNvSpPr txBox="1"/>
          <p:nvPr/>
        </p:nvSpPr>
        <p:spPr>
          <a:xfrm>
            <a:off x="3200400" y="2377440"/>
            <a:ext cx="1280160" cy="822960"/>
          </a:xfrm>
          <a:prstGeom prst="rect">
            <a:avLst/>
          </a:prstGeom>
          <a:noFill/>
          <a:ln/>
        </p:spPr>
        <p:txBody>
          <a:bodyPr wrap="square" lIns="0" tIns="0" rIns="0" bIns="0" rtlCol="0" anchor="t"/>
          <a:lstStyle/>
          <a:p>
            <a:pPr algn="ctr" indent="0" marL="0">
              <a:buNone/>
            </a:pPr>
            <a:r>
              <a:rPr lang="en-US" sz="1400" b="1" dirty="0">
                <a:solidFill>
                  <a:srgbClr val="0B1220"/>
                </a:solidFill>
                <a:latin typeface="Calibri" pitchFamily="34" charset="0"/>
                <a:ea typeface="Calibri" pitchFamily="34" charset="-122"/>
                <a:cs typeface="Calibri" pitchFamily="34" charset="-120"/>
              </a:rPr>
              <a:t>Save output</a:t>
            </a:r>
            <a:endParaRPr lang="en-US" sz="1400" dirty="0"/>
          </a:p>
        </p:txBody>
      </p:sp>
      <p:sp>
        <p:nvSpPr>
          <p:cNvPr id="16" name="Shape 13"/>
          <p:cNvSpPr/>
          <p:nvPr/>
        </p:nvSpPr>
        <p:spPr>
          <a:xfrm>
            <a:off x="4892040" y="1554480"/>
            <a:ext cx="640080" cy="640080"/>
          </a:xfrm>
          <a:prstGeom prst="ellipse">
            <a:avLst/>
          </a:prstGeom>
          <a:solidFill>
            <a:srgbClr val="0B7A68"/>
          </a:solidFill>
          <a:ln w="12700">
            <a:solidFill>
              <a:srgbClr val="0B7A68"/>
            </a:solidFill>
            <a:prstDash val="solid"/>
          </a:ln>
        </p:spPr>
      </p:sp>
      <p:sp>
        <p:nvSpPr>
          <p:cNvPr id="17" name="Text 14"/>
          <p:cNvSpPr txBox="1"/>
          <p:nvPr/>
        </p:nvSpPr>
        <p:spPr>
          <a:xfrm>
            <a:off x="4892040" y="1554480"/>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4</a:t>
            </a:r>
            <a:endParaRPr lang="en-US" sz="2100" dirty="0"/>
          </a:p>
        </p:txBody>
      </p:sp>
      <p:sp>
        <p:nvSpPr>
          <p:cNvPr id="18" name="Text 15"/>
          <p:cNvSpPr txBox="1"/>
          <p:nvPr/>
        </p:nvSpPr>
        <p:spPr>
          <a:xfrm>
            <a:off x="4572000" y="2377440"/>
            <a:ext cx="1280160" cy="822960"/>
          </a:xfrm>
          <a:prstGeom prst="rect">
            <a:avLst/>
          </a:prstGeom>
          <a:noFill/>
          <a:ln/>
        </p:spPr>
        <p:txBody>
          <a:bodyPr wrap="square" lIns="0" tIns="0" rIns="0" bIns="0" rtlCol="0" anchor="t"/>
          <a:lstStyle/>
          <a:p>
            <a:pPr algn="ctr" indent="0" marL="0">
              <a:buNone/>
            </a:pPr>
            <a:r>
              <a:rPr lang="en-US" sz="1400" b="1" dirty="0">
                <a:solidFill>
                  <a:srgbClr val="0B1220"/>
                </a:solidFill>
                <a:latin typeface="Calibri" pitchFamily="34" charset="0"/>
                <a:ea typeface="Calibri" pitchFamily="34" charset="-122"/>
                <a:cs typeface="Calibri" pitchFamily="34" charset="-120"/>
              </a:rPr>
              <a:t>Service detection</a:t>
            </a:r>
            <a:endParaRPr lang="en-US" sz="1400" dirty="0"/>
          </a:p>
        </p:txBody>
      </p:sp>
      <p:sp>
        <p:nvSpPr>
          <p:cNvPr id="19" name="Shape 16"/>
          <p:cNvSpPr/>
          <p:nvPr/>
        </p:nvSpPr>
        <p:spPr>
          <a:xfrm>
            <a:off x="6263640" y="1554480"/>
            <a:ext cx="640080" cy="640080"/>
          </a:xfrm>
          <a:prstGeom prst="ellipse">
            <a:avLst/>
          </a:prstGeom>
          <a:solidFill>
            <a:srgbClr val="0B7A68"/>
          </a:solidFill>
          <a:ln w="12700">
            <a:solidFill>
              <a:srgbClr val="0B7A68"/>
            </a:solidFill>
            <a:prstDash val="solid"/>
          </a:ln>
        </p:spPr>
      </p:sp>
      <p:sp>
        <p:nvSpPr>
          <p:cNvPr id="20" name="Text 17"/>
          <p:cNvSpPr txBox="1"/>
          <p:nvPr/>
        </p:nvSpPr>
        <p:spPr>
          <a:xfrm>
            <a:off x="6263640" y="1554480"/>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5</a:t>
            </a:r>
            <a:endParaRPr lang="en-US" sz="2100" dirty="0"/>
          </a:p>
        </p:txBody>
      </p:sp>
      <p:sp>
        <p:nvSpPr>
          <p:cNvPr id="21" name="Text 18"/>
          <p:cNvSpPr txBox="1"/>
          <p:nvPr/>
        </p:nvSpPr>
        <p:spPr>
          <a:xfrm>
            <a:off x="5943600" y="2377440"/>
            <a:ext cx="1280160" cy="822960"/>
          </a:xfrm>
          <a:prstGeom prst="rect">
            <a:avLst/>
          </a:prstGeom>
          <a:noFill/>
          <a:ln/>
        </p:spPr>
        <p:txBody>
          <a:bodyPr wrap="square" lIns="0" tIns="0" rIns="0" bIns="0" rtlCol="0" anchor="t"/>
          <a:lstStyle/>
          <a:p>
            <a:pPr algn="ctr" indent="0" marL="0">
              <a:buNone/>
            </a:pPr>
            <a:r>
              <a:rPr lang="en-US" sz="1400" b="1" dirty="0">
                <a:solidFill>
                  <a:srgbClr val="0B1220"/>
                </a:solidFill>
                <a:latin typeface="Calibri" pitchFamily="34" charset="0"/>
                <a:ea typeface="Calibri" pitchFamily="34" charset="-122"/>
                <a:cs typeface="Calibri" pitchFamily="34" charset="-120"/>
              </a:rPr>
              <a:t>PowerShell inspection</a:t>
            </a:r>
            <a:endParaRPr lang="en-US" sz="1400" dirty="0"/>
          </a:p>
        </p:txBody>
      </p:sp>
      <p:sp>
        <p:nvSpPr>
          <p:cNvPr id="22" name="Shape 19"/>
          <p:cNvSpPr/>
          <p:nvPr/>
        </p:nvSpPr>
        <p:spPr>
          <a:xfrm>
            <a:off x="7635240" y="1554480"/>
            <a:ext cx="640080" cy="640080"/>
          </a:xfrm>
          <a:prstGeom prst="ellipse">
            <a:avLst/>
          </a:prstGeom>
          <a:solidFill>
            <a:srgbClr val="F5B94B"/>
          </a:solidFill>
          <a:ln w="12700">
            <a:solidFill>
              <a:srgbClr val="F5B94B"/>
            </a:solidFill>
            <a:prstDash val="solid"/>
          </a:ln>
        </p:spPr>
      </p:sp>
      <p:sp>
        <p:nvSpPr>
          <p:cNvPr id="23" name="Text 20"/>
          <p:cNvSpPr txBox="1"/>
          <p:nvPr/>
        </p:nvSpPr>
        <p:spPr>
          <a:xfrm>
            <a:off x="7635240" y="1554480"/>
            <a:ext cx="640080" cy="640080"/>
          </a:xfrm>
          <a:prstGeom prst="rect">
            <a:avLst/>
          </a:prstGeom>
          <a:noFill/>
          <a:ln/>
        </p:spPr>
        <p:txBody>
          <a:bodyPr wrap="square" lIns="0" tIns="0" rIns="0" bIns="0" rtlCol="0" anchor="ctr"/>
          <a:lstStyle/>
          <a:p>
            <a:pPr algn="ctr" indent="0" marL="0">
              <a:buNone/>
            </a:pPr>
            <a:r>
              <a:rPr lang="en-US" sz="2100" b="1" dirty="0">
                <a:solidFill>
                  <a:srgbClr val="0B1220"/>
                </a:solidFill>
                <a:latin typeface="Calibri" pitchFamily="34" charset="0"/>
                <a:ea typeface="Calibri" pitchFamily="34" charset="-122"/>
                <a:cs typeface="Calibri" pitchFamily="34" charset="-120"/>
              </a:rPr>
              <a:t>6</a:t>
            </a:r>
            <a:endParaRPr lang="en-US" sz="2100" dirty="0"/>
          </a:p>
        </p:txBody>
      </p:sp>
      <p:sp>
        <p:nvSpPr>
          <p:cNvPr id="24" name="Text 21"/>
          <p:cNvSpPr txBox="1"/>
          <p:nvPr/>
        </p:nvSpPr>
        <p:spPr>
          <a:xfrm>
            <a:off x="7315200" y="2377440"/>
            <a:ext cx="1280160" cy="822960"/>
          </a:xfrm>
          <a:prstGeom prst="rect">
            <a:avLst/>
          </a:prstGeom>
          <a:noFill/>
          <a:ln/>
        </p:spPr>
        <p:txBody>
          <a:bodyPr wrap="square" lIns="0" tIns="0" rIns="0" bIns="0" rtlCol="0" anchor="t"/>
          <a:lstStyle/>
          <a:p>
            <a:pPr algn="ctr" indent="0" marL="0">
              <a:buNone/>
            </a:pPr>
            <a:r>
              <a:rPr lang="en-US" sz="1400" b="1" dirty="0">
                <a:solidFill>
                  <a:srgbClr val="0B1220"/>
                </a:solidFill>
                <a:latin typeface="Calibri" pitchFamily="34" charset="0"/>
                <a:ea typeface="Calibri" pitchFamily="34" charset="-122"/>
                <a:cs typeface="Calibri" pitchFamily="34" charset="-120"/>
              </a:rPr>
              <a:t>Repeat after firewall</a:t>
            </a:r>
            <a:endParaRPr lang="en-US" sz="1400" dirty="0"/>
          </a:p>
        </p:txBody>
      </p:sp>
      <p:sp>
        <p:nvSpPr>
          <p:cNvPr id="25" name="Shape 22"/>
          <p:cNvSpPr/>
          <p:nvPr/>
        </p:nvSpPr>
        <p:spPr>
          <a:xfrm>
            <a:off x="457200" y="3474720"/>
            <a:ext cx="8229600" cy="868680"/>
          </a:xfrm>
          <a:prstGeom prst="rect">
            <a:avLst/>
          </a:prstGeom>
          <a:solidFill>
            <a:srgbClr val="0B1220"/>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457200" y="3474720"/>
            <a:ext cx="8229600" cy="868680"/>
          </a:xfrm>
          <a:prstGeom prst="rect">
            <a:avLst/>
          </a:prstGeom>
          <a:noFill/>
          <a:ln/>
        </p:spPr>
        <p:txBody>
          <a:bodyPr wrap="square" lIns="0" tIns="0" rIns="0" bIns="0" rtlCol="0" anchor="ctr"/>
          <a:lstStyle/>
          <a:p>
            <a:pPr algn="ctr" indent="0" marL="0">
              <a:buNone/>
            </a:pPr>
            <a:r>
              <a:rPr lang="en-US" sz="1600" b="1" dirty="0">
                <a:solidFill>
                  <a:srgbClr val="2DD4A7"/>
                </a:solidFill>
                <a:latin typeface="Calibri" pitchFamily="34" charset="0"/>
                <a:ea typeface="Calibri" pitchFamily="34" charset="-122"/>
                <a:cs typeface="Calibri" pitchFamily="34" charset="-120"/>
              </a:rPr>
              <a:t>Non-destructive</a:t>
            </a:r>
            <a:pPr algn="ctr" indent="0" marL="0">
              <a:buNone/>
            </a:pPr>
            <a:r>
              <a:rPr lang="en-US" sz="1600" dirty="0">
                <a:solidFill>
                  <a:srgbClr val="8FA3BF"/>
                </a:solidFill>
                <a:latin typeface="Calibri" pitchFamily="34" charset="0"/>
                <a:ea typeface="Calibri" pitchFamily="34" charset="-122"/>
                <a:cs typeface="Calibri" pitchFamily="34" charset="-120"/>
              </a:rPr>
              <a:t>   ·   </a:t>
            </a:r>
            <a:pPr algn="ctr" indent="0" marL="0">
              <a:buNone/>
            </a:pPr>
            <a:r>
              <a:rPr lang="en-US" sz="1600" b="1" dirty="0">
                <a:solidFill>
                  <a:srgbClr val="2DD4A7"/>
                </a:solidFill>
                <a:latin typeface="Calibri" pitchFamily="34" charset="0"/>
                <a:ea typeface="Calibri" pitchFamily="34" charset="-122"/>
                <a:cs typeface="Calibri" pitchFamily="34" charset="-120"/>
              </a:rPr>
              <a:t>Local machine only</a:t>
            </a:r>
            <a:pPr algn="ctr" indent="0" marL="0">
              <a:buNone/>
            </a:pPr>
            <a:r>
              <a:rPr lang="en-US" sz="1600" dirty="0">
                <a:solidFill>
                  <a:srgbClr val="8FA3BF"/>
                </a:solidFill>
                <a:latin typeface="Calibri" pitchFamily="34" charset="0"/>
                <a:ea typeface="Calibri" pitchFamily="34" charset="-122"/>
                <a:cs typeface="Calibri" pitchFamily="34" charset="-120"/>
              </a:rPr>
              <a:t>   ·   </a:t>
            </a:r>
            <a:pPr algn="ctr" indent="0" marL="0">
              <a:buNone/>
            </a:pPr>
            <a:r>
              <a:rPr lang="en-US" sz="1600" b="1" dirty="0">
                <a:solidFill>
                  <a:srgbClr val="2DD4A7"/>
                </a:solidFill>
                <a:latin typeface="Calibri" pitchFamily="34" charset="0"/>
                <a:ea typeface="Calibri" pitchFamily="34" charset="-122"/>
                <a:cs typeface="Calibri" pitchFamily="34" charset="-120"/>
              </a:rPr>
              <a:t>No exploitation or remote-host testing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B1220"/>
                </a:solidFill>
                <a:latin typeface="Cambria" pitchFamily="34" charset="0"/>
                <a:ea typeface="Cambria" pitchFamily="34" charset="-122"/>
                <a:cs typeface="Cambria" pitchFamily="34" charset="-120"/>
              </a:rPr>
              <a:t>Tools and commands used</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1000" dirty="0">
                <a:solidFill>
                  <a:srgbClr val="56657D"/>
                </a:solidFill>
                <a:latin typeface="Calibri" pitchFamily="34" charset="0"/>
                <a:ea typeface="Calibri" pitchFamily="34" charset="-122"/>
                <a:cs typeface="Calibri" pitchFamily="34" charset="-120"/>
              </a:rPr>
              <a:t>Group 36 · Nmap Case Study</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1000" dirty="0">
                <a:solidFill>
                  <a:srgbClr val="56657D"/>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457200" y="1188720"/>
            <a:ext cx="8229600" cy="2148840"/>
          </a:xfrm>
          <a:prstGeom prst="rect">
            <a:avLst/>
          </a:prstGeom>
          <a:solidFill>
            <a:srgbClr val="0B1220"/>
          </a:solidFill>
          <a:ln w="12700">
            <a:solidFill>
              <a:srgbClr val="0B1220"/>
            </a:solidFill>
            <a:prstDash val="solid"/>
          </a:ln>
        </p:spPr>
      </p:sp>
      <p:sp>
        <p:nvSpPr>
          <p:cNvPr id="7" name="Text 4"/>
          <p:cNvSpPr txBox="1"/>
          <p:nvPr/>
        </p:nvSpPr>
        <p:spPr>
          <a:xfrm>
            <a:off x="685800" y="1280160"/>
            <a:ext cx="7772400" cy="1965960"/>
          </a:xfrm>
          <a:prstGeom prst="rect">
            <a:avLst/>
          </a:prstGeom>
          <a:noFill/>
          <a:ln/>
        </p:spPr>
        <p:txBody>
          <a:bodyPr wrap="square" lIns="0" tIns="0" rIns="0" bIns="0" rtlCol="0" anchor="ctr"/>
          <a:lstStyle/>
          <a:p>
            <a:pPr indent="0" marL="0">
              <a:buNone/>
            </a:pPr>
            <a:r>
              <a:rPr lang="en-US" sz="1200" dirty="0">
                <a:solidFill>
                  <a:srgbClr val="8FA3BF"/>
                </a:solidFill>
                <a:latin typeface="Courier New" pitchFamily="34" charset="0"/>
                <a:ea typeface="Courier New" pitchFamily="34" charset="-122"/>
                <a:cs typeface="Courier New" pitchFamily="34" charset="-120"/>
              </a:rPr>
              <a:t># initial scan
</a:t>
            </a:r>
            <a:pPr indent="0" marL="0">
              <a:buNone/>
            </a:pPr>
            <a:r>
              <a:rPr lang="en-US" sz="1200" dirty="0">
                <a:solidFill>
                  <a:srgbClr val="2DD4A7"/>
                </a:solidFill>
                <a:latin typeface="Courier New" pitchFamily="34" charset="0"/>
                <a:ea typeface="Courier New" pitchFamily="34" charset="-122"/>
                <a:cs typeface="Courier New" pitchFamily="34" charset="-120"/>
              </a:rPr>
              <a:t>&gt; nmap -sT -Pn 127.0.0.1
</a:t>
            </a:r>
            <a:pPr indent="0" marL="0">
              <a:buNone/>
            </a:pPr>
            <a:r>
              <a:rPr lang="en-US" sz="1200" dirty="0">
                <a:solidFill>
                  <a:srgbClr val="8FA3BF"/>
                </a:solidFill>
                <a:latin typeface="Courier New" pitchFamily="34" charset="0"/>
                <a:ea typeface="Courier New" pitchFamily="34" charset="-122"/>
                <a:cs typeface="Courier New" pitchFamily="34" charset="-120"/>
              </a:rPr>
              <a:t># save output
</a:t>
            </a:r>
            <a:pPr indent="0" marL="0">
              <a:buNone/>
            </a:pPr>
            <a:r>
              <a:rPr lang="en-US" sz="1200" dirty="0">
                <a:solidFill>
                  <a:srgbClr val="2DD4A7"/>
                </a:solidFill>
                <a:latin typeface="Courier New" pitchFamily="34" charset="0"/>
                <a:ea typeface="Courier New" pitchFamily="34" charset="-122"/>
                <a:cs typeface="Courier New" pitchFamily="34" charset="-120"/>
              </a:rPr>
              <a:t>&gt; nmap -sT -Pn 127.0.0.1 -oN nmap_results.txt
</a:t>
            </a:r>
            <a:pPr indent="0" marL="0">
              <a:buNone/>
            </a:pPr>
            <a:r>
              <a:rPr lang="en-US" sz="1200" dirty="0">
                <a:solidFill>
                  <a:srgbClr val="8FA3BF"/>
                </a:solidFill>
                <a:latin typeface="Courier New" pitchFamily="34" charset="0"/>
                <a:ea typeface="Courier New" pitchFamily="34" charset="-122"/>
                <a:cs typeface="Courier New" pitchFamily="34" charset="-120"/>
              </a:rPr>
              <a:t># after firewall
</a:t>
            </a:r>
            <a:pPr indent="0" marL="0">
              <a:buNone/>
            </a:pPr>
            <a:r>
              <a:rPr lang="en-US" sz="1200" dirty="0">
                <a:solidFill>
                  <a:srgbClr val="2DD4A7"/>
                </a:solidFill>
                <a:latin typeface="Courier New" pitchFamily="34" charset="0"/>
                <a:ea typeface="Courier New" pitchFamily="34" charset="-122"/>
                <a:cs typeface="Courier New" pitchFamily="34" charset="-120"/>
              </a:rPr>
              <a:t>&gt; nmap -sT -Pn 127.0.0.1 -oN nmap_after_firewall.txt
</a:t>
            </a:r>
            <a:pPr indent="0" marL="0">
              <a:buNone/>
            </a:pPr>
            <a:r>
              <a:rPr lang="en-US" sz="1200" dirty="0">
                <a:solidFill>
                  <a:srgbClr val="8FA3BF"/>
                </a:solidFill>
                <a:latin typeface="Courier New" pitchFamily="34" charset="0"/>
                <a:ea typeface="Courier New" pitchFamily="34" charset="-122"/>
                <a:cs typeface="Courier New" pitchFamily="34" charset="-120"/>
              </a:rPr>
              <a:t># service detection
</a:t>
            </a:r>
            <a:pPr indent="0" marL="0">
              <a:buNone/>
            </a:pPr>
            <a:r>
              <a:rPr lang="en-US" sz="1200" dirty="0">
                <a:solidFill>
                  <a:srgbClr val="2DD4A7"/>
                </a:solidFill>
                <a:latin typeface="Courier New" pitchFamily="34" charset="0"/>
                <a:ea typeface="Courier New" pitchFamily="34" charset="-122"/>
                <a:cs typeface="Courier New" pitchFamily="34" charset="-120"/>
              </a:rPr>
              <a:t>&gt; nmap -sT -Pn -sV --version-light -p 135,445,1042,7778 127.0.0.1</a:t>
            </a:r>
            <a:endParaRPr lang="en-US" sz="1200" dirty="0"/>
          </a:p>
          <a:p>
            <a:pPr indent="0" marL="0">
              <a:buNone/>
            </a:pPr>
            <a:r>
              <a:rPr lang="en-US" sz="1200" dirty="0">
                <a:solidFill>
                  <a:srgbClr val="2DD4A7"/>
                </a:solidFill>
                <a:latin typeface="Courier New" pitchFamily="34" charset="0"/>
                <a:ea typeface="Courier New" pitchFamily="34" charset="-122"/>
                <a:cs typeface="Courier New" pitchFamily="34" charset="-120"/>
              </a:rPr>
              <a:t>     -oN nmap_service_verification.txt</a:t>
            </a:r>
            <a:endParaRPr lang="en-US" sz="1200" dirty="0"/>
          </a:p>
        </p:txBody>
      </p:sp>
      <p:sp>
        <p:nvSpPr>
          <p:cNvPr id="8" name="Shape 5"/>
          <p:cNvSpPr/>
          <p:nvPr/>
        </p:nvSpPr>
        <p:spPr>
          <a:xfrm>
            <a:off x="457200" y="3520440"/>
            <a:ext cx="1572768" cy="7315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57200" y="3566160"/>
            <a:ext cx="1572768" cy="320040"/>
          </a:xfrm>
          <a:prstGeom prst="rect">
            <a:avLst/>
          </a:prstGeom>
          <a:noFill/>
          <a:ln/>
        </p:spPr>
        <p:txBody>
          <a:bodyPr wrap="square" lIns="0" tIns="0" rIns="0" bIns="0" rtlCol="0" anchor="t"/>
          <a:lstStyle/>
          <a:p>
            <a:pPr algn="ctr" indent="0" marL="0">
              <a:buNone/>
            </a:pPr>
            <a:r>
              <a:rPr lang="en-US" sz="1600" b="1" dirty="0">
                <a:solidFill>
                  <a:srgbClr val="0B7A68"/>
                </a:solidFill>
                <a:latin typeface="Courier New" pitchFamily="34" charset="0"/>
                <a:ea typeface="Courier New" pitchFamily="34" charset="-122"/>
                <a:cs typeface="Courier New" pitchFamily="34" charset="-120"/>
              </a:rPr>
              <a:t>-sT</a:t>
            </a:r>
            <a:endParaRPr lang="en-US" sz="1600" dirty="0"/>
          </a:p>
        </p:txBody>
      </p:sp>
      <p:sp>
        <p:nvSpPr>
          <p:cNvPr id="10" name="Text 7"/>
          <p:cNvSpPr txBox="1"/>
          <p:nvPr/>
        </p:nvSpPr>
        <p:spPr>
          <a:xfrm>
            <a:off x="457200" y="3886200"/>
            <a:ext cx="1572768" cy="320040"/>
          </a:xfrm>
          <a:prstGeom prst="rect">
            <a:avLst/>
          </a:prstGeom>
          <a:noFill/>
          <a:ln/>
        </p:spPr>
        <p:txBody>
          <a:bodyPr wrap="square" lIns="0" tIns="0" rIns="0" bIns="0" rtlCol="0" anchor="t"/>
          <a:lstStyle/>
          <a:p>
            <a:pPr algn="ctr" indent="0" marL="0">
              <a:buNone/>
            </a:pPr>
            <a:r>
              <a:rPr lang="en-US" sz="1200" dirty="0">
                <a:solidFill>
                  <a:srgbClr val="0B1220"/>
                </a:solidFill>
                <a:latin typeface="Calibri" pitchFamily="34" charset="0"/>
                <a:ea typeface="Calibri" pitchFamily="34" charset="-122"/>
                <a:cs typeface="Calibri" pitchFamily="34" charset="-120"/>
              </a:rPr>
              <a:t>TCP connect</a:t>
            </a:r>
            <a:endParaRPr lang="en-US" sz="1200" dirty="0"/>
          </a:p>
        </p:txBody>
      </p:sp>
      <p:sp>
        <p:nvSpPr>
          <p:cNvPr id="11" name="Shape 8"/>
          <p:cNvSpPr/>
          <p:nvPr/>
        </p:nvSpPr>
        <p:spPr>
          <a:xfrm>
            <a:off x="2139696" y="3520440"/>
            <a:ext cx="1572768" cy="7315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2139696" y="3566160"/>
            <a:ext cx="1572768" cy="320040"/>
          </a:xfrm>
          <a:prstGeom prst="rect">
            <a:avLst/>
          </a:prstGeom>
          <a:noFill/>
          <a:ln/>
        </p:spPr>
        <p:txBody>
          <a:bodyPr wrap="square" lIns="0" tIns="0" rIns="0" bIns="0" rtlCol="0" anchor="t"/>
          <a:lstStyle/>
          <a:p>
            <a:pPr algn="ctr" indent="0" marL="0">
              <a:buNone/>
            </a:pPr>
            <a:r>
              <a:rPr lang="en-US" sz="1600" b="1" dirty="0">
                <a:solidFill>
                  <a:srgbClr val="0B7A68"/>
                </a:solidFill>
                <a:latin typeface="Courier New" pitchFamily="34" charset="0"/>
                <a:ea typeface="Courier New" pitchFamily="34" charset="-122"/>
                <a:cs typeface="Courier New" pitchFamily="34" charset="-120"/>
              </a:rPr>
              <a:t>-Pn</a:t>
            </a:r>
            <a:endParaRPr lang="en-US" sz="1600" dirty="0"/>
          </a:p>
        </p:txBody>
      </p:sp>
      <p:sp>
        <p:nvSpPr>
          <p:cNvPr id="13" name="Text 10"/>
          <p:cNvSpPr txBox="1"/>
          <p:nvPr/>
        </p:nvSpPr>
        <p:spPr>
          <a:xfrm>
            <a:off x="2139696" y="3886200"/>
            <a:ext cx="1572768" cy="320040"/>
          </a:xfrm>
          <a:prstGeom prst="rect">
            <a:avLst/>
          </a:prstGeom>
          <a:noFill/>
          <a:ln/>
        </p:spPr>
        <p:txBody>
          <a:bodyPr wrap="square" lIns="0" tIns="0" rIns="0" bIns="0" rtlCol="0" anchor="t"/>
          <a:lstStyle/>
          <a:p>
            <a:pPr algn="ctr" indent="0" marL="0">
              <a:buNone/>
            </a:pPr>
            <a:r>
              <a:rPr lang="en-US" sz="1200" dirty="0">
                <a:solidFill>
                  <a:srgbClr val="0B1220"/>
                </a:solidFill>
                <a:latin typeface="Calibri" pitchFamily="34" charset="0"/>
                <a:ea typeface="Calibri" pitchFamily="34" charset="-122"/>
                <a:cs typeface="Calibri" pitchFamily="34" charset="-120"/>
              </a:rPr>
              <a:t>skip host discovery</a:t>
            </a:r>
            <a:endParaRPr lang="en-US" sz="1200" dirty="0"/>
          </a:p>
        </p:txBody>
      </p:sp>
      <p:sp>
        <p:nvSpPr>
          <p:cNvPr id="14" name="Shape 11"/>
          <p:cNvSpPr/>
          <p:nvPr/>
        </p:nvSpPr>
        <p:spPr>
          <a:xfrm>
            <a:off x="3822192" y="3520440"/>
            <a:ext cx="1572768" cy="7315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3822192" y="3566160"/>
            <a:ext cx="1572768" cy="320040"/>
          </a:xfrm>
          <a:prstGeom prst="rect">
            <a:avLst/>
          </a:prstGeom>
          <a:noFill/>
          <a:ln/>
        </p:spPr>
        <p:txBody>
          <a:bodyPr wrap="square" lIns="0" tIns="0" rIns="0" bIns="0" rtlCol="0" anchor="t"/>
          <a:lstStyle/>
          <a:p>
            <a:pPr algn="ctr" indent="0" marL="0">
              <a:buNone/>
            </a:pPr>
            <a:r>
              <a:rPr lang="en-US" sz="1600" b="1" dirty="0">
                <a:solidFill>
                  <a:srgbClr val="0B7A68"/>
                </a:solidFill>
                <a:latin typeface="Courier New" pitchFamily="34" charset="0"/>
                <a:ea typeface="Courier New" pitchFamily="34" charset="-122"/>
                <a:cs typeface="Courier New" pitchFamily="34" charset="-120"/>
              </a:rPr>
              <a:t>-sV</a:t>
            </a:r>
            <a:endParaRPr lang="en-US" sz="1600" dirty="0"/>
          </a:p>
        </p:txBody>
      </p:sp>
      <p:sp>
        <p:nvSpPr>
          <p:cNvPr id="16" name="Text 13"/>
          <p:cNvSpPr txBox="1"/>
          <p:nvPr/>
        </p:nvSpPr>
        <p:spPr>
          <a:xfrm>
            <a:off x="3822192" y="3886200"/>
            <a:ext cx="1572768" cy="320040"/>
          </a:xfrm>
          <a:prstGeom prst="rect">
            <a:avLst/>
          </a:prstGeom>
          <a:noFill/>
          <a:ln/>
        </p:spPr>
        <p:txBody>
          <a:bodyPr wrap="square" lIns="0" tIns="0" rIns="0" bIns="0" rtlCol="0" anchor="t"/>
          <a:lstStyle/>
          <a:p>
            <a:pPr algn="ctr" indent="0" marL="0">
              <a:buNone/>
            </a:pPr>
            <a:r>
              <a:rPr lang="en-US" sz="1200" dirty="0">
                <a:solidFill>
                  <a:srgbClr val="0B1220"/>
                </a:solidFill>
                <a:latin typeface="Calibri" pitchFamily="34" charset="0"/>
                <a:ea typeface="Calibri" pitchFamily="34" charset="-122"/>
                <a:cs typeface="Calibri" pitchFamily="34" charset="-120"/>
              </a:rPr>
              <a:t>version detection</a:t>
            </a:r>
            <a:endParaRPr lang="en-US" sz="1200" dirty="0"/>
          </a:p>
        </p:txBody>
      </p:sp>
      <p:sp>
        <p:nvSpPr>
          <p:cNvPr id="17" name="Shape 14"/>
          <p:cNvSpPr/>
          <p:nvPr/>
        </p:nvSpPr>
        <p:spPr>
          <a:xfrm>
            <a:off x="5504688" y="3520440"/>
            <a:ext cx="1572768" cy="7315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5504688" y="3566160"/>
            <a:ext cx="1572768" cy="320040"/>
          </a:xfrm>
          <a:prstGeom prst="rect">
            <a:avLst/>
          </a:prstGeom>
          <a:noFill/>
          <a:ln/>
        </p:spPr>
        <p:txBody>
          <a:bodyPr wrap="square" lIns="0" tIns="0" rIns="0" bIns="0" rtlCol="0" anchor="t"/>
          <a:lstStyle/>
          <a:p>
            <a:pPr algn="ctr" indent="0" marL="0">
              <a:buNone/>
            </a:pPr>
            <a:r>
              <a:rPr lang="en-US" sz="1600" b="1" dirty="0">
                <a:solidFill>
                  <a:srgbClr val="0B7A68"/>
                </a:solidFill>
                <a:latin typeface="Courier New" pitchFamily="34" charset="0"/>
                <a:ea typeface="Courier New" pitchFamily="34" charset="-122"/>
                <a:cs typeface="Courier New" pitchFamily="34" charset="-120"/>
              </a:rPr>
              <a:t>-p</a:t>
            </a:r>
            <a:endParaRPr lang="en-US" sz="1600" dirty="0"/>
          </a:p>
        </p:txBody>
      </p:sp>
      <p:sp>
        <p:nvSpPr>
          <p:cNvPr id="19" name="Text 16"/>
          <p:cNvSpPr txBox="1"/>
          <p:nvPr/>
        </p:nvSpPr>
        <p:spPr>
          <a:xfrm>
            <a:off x="5504688" y="3886200"/>
            <a:ext cx="1572768" cy="320040"/>
          </a:xfrm>
          <a:prstGeom prst="rect">
            <a:avLst/>
          </a:prstGeom>
          <a:noFill/>
          <a:ln/>
        </p:spPr>
        <p:txBody>
          <a:bodyPr wrap="square" lIns="0" tIns="0" rIns="0" bIns="0" rtlCol="0" anchor="t"/>
          <a:lstStyle/>
          <a:p>
            <a:pPr algn="ctr" indent="0" marL="0">
              <a:buNone/>
            </a:pPr>
            <a:r>
              <a:rPr lang="en-US" sz="1200" dirty="0">
                <a:solidFill>
                  <a:srgbClr val="0B1220"/>
                </a:solidFill>
                <a:latin typeface="Calibri" pitchFamily="34" charset="0"/>
                <a:ea typeface="Calibri" pitchFamily="34" charset="-122"/>
                <a:cs typeface="Calibri" pitchFamily="34" charset="-120"/>
              </a:rPr>
              <a:t>chosen ports</a:t>
            </a:r>
            <a:endParaRPr lang="en-US" sz="1200" dirty="0"/>
          </a:p>
        </p:txBody>
      </p:sp>
      <p:sp>
        <p:nvSpPr>
          <p:cNvPr id="20" name="Shape 17"/>
          <p:cNvSpPr/>
          <p:nvPr/>
        </p:nvSpPr>
        <p:spPr>
          <a:xfrm>
            <a:off x="7187184" y="3520440"/>
            <a:ext cx="1572768" cy="7315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7187184" y="3566160"/>
            <a:ext cx="1572768" cy="320040"/>
          </a:xfrm>
          <a:prstGeom prst="rect">
            <a:avLst/>
          </a:prstGeom>
          <a:noFill/>
          <a:ln/>
        </p:spPr>
        <p:txBody>
          <a:bodyPr wrap="square" lIns="0" tIns="0" rIns="0" bIns="0" rtlCol="0" anchor="t"/>
          <a:lstStyle/>
          <a:p>
            <a:pPr algn="ctr" indent="0" marL="0">
              <a:buNone/>
            </a:pPr>
            <a:r>
              <a:rPr lang="en-US" sz="1600" b="1" dirty="0">
                <a:solidFill>
                  <a:srgbClr val="0B7A68"/>
                </a:solidFill>
                <a:latin typeface="Courier New" pitchFamily="34" charset="0"/>
                <a:ea typeface="Courier New" pitchFamily="34" charset="-122"/>
                <a:cs typeface="Courier New" pitchFamily="34" charset="-120"/>
              </a:rPr>
              <a:t>-oN</a:t>
            </a:r>
            <a:endParaRPr lang="en-US" sz="1600" dirty="0"/>
          </a:p>
        </p:txBody>
      </p:sp>
      <p:sp>
        <p:nvSpPr>
          <p:cNvPr id="22" name="Text 19"/>
          <p:cNvSpPr txBox="1"/>
          <p:nvPr/>
        </p:nvSpPr>
        <p:spPr>
          <a:xfrm>
            <a:off x="7187184" y="3886200"/>
            <a:ext cx="1572768" cy="320040"/>
          </a:xfrm>
          <a:prstGeom prst="rect">
            <a:avLst/>
          </a:prstGeom>
          <a:noFill/>
          <a:ln/>
        </p:spPr>
        <p:txBody>
          <a:bodyPr wrap="square" lIns="0" tIns="0" rIns="0" bIns="0" rtlCol="0" anchor="t"/>
          <a:lstStyle/>
          <a:p>
            <a:pPr algn="ctr" indent="0" marL="0">
              <a:buNone/>
            </a:pPr>
            <a:r>
              <a:rPr lang="en-US" sz="1200" dirty="0">
                <a:solidFill>
                  <a:srgbClr val="0B1220"/>
                </a:solidFill>
                <a:latin typeface="Calibri" pitchFamily="34" charset="0"/>
                <a:ea typeface="Calibri" pitchFamily="34" charset="-122"/>
                <a:cs typeface="Calibri" pitchFamily="34" charset="-120"/>
              </a:rPr>
              <a:t>save to file</a:t>
            </a:r>
            <a:endParaRPr lang="en-US" sz="1200" dirty="0"/>
          </a:p>
        </p:txBody>
      </p:sp>
      <p:sp>
        <p:nvSpPr>
          <p:cNvPr id="23" name="Text 20"/>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1200" dirty="0">
                <a:solidFill>
                  <a:srgbClr val="56657D"/>
                </a:solidFill>
                <a:latin typeface="Calibri" pitchFamily="34" charset="0"/>
                <a:ea typeface="Calibri" pitchFamily="34" charset="-122"/>
                <a:cs typeface="Calibri" pitchFamily="34" charset="-120"/>
              </a:rPr>
              <a:t>Windows 10.0.26200 · Nmap 7.992 · PowerShell · Target 127.0.0.1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B1220"/>
                </a:solidFill>
                <a:latin typeface="Cambria" pitchFamily="34" charset="0"/>
                <a:ea typeface="Cambria" pitchFamily="34" charset="-122"/>
                <a:cs typeface="Cambria" pitchFamily="34" charset="-120"/>
              </a:rPr>
              <a:t>Result: four open TCP ports</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1000" dirty="0">
                <a:solidFill>
                  <a:srgbClr val="56657D"/>
                </a:solidFill>
                <a:latin typeface="Calibri" pitchFamily="34" charset="0"/>
                <a:ea typeface="Calibri" pitchFamily="34" charset="-122"/>
                <a:cs typeface="Calibri" pitchFamily="34" charset="-120"/>
              </a:rPr>
              <a:t>Group 36 · Nmap Case Study</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1000" dirty="0">
                <a:solidFill>
                  <a:srgbClr val="56657D"/>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457200" y="1188720"/>
            <a:ext cx="3840480" cy="100584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85800" y="1188720"/>
            <a:ext cx="1737360" cy="1005840"/>
          </a:xfrm>
          <a:prstGeom prst="rect">
            <a:avLst/>
          </a:prstGeom>
          <a:noFill/>
          <a:ln/>
        </p:spPr>
        <p:txBody>
          <a:bodyPr wrap="square" lIns="0" tIns="0" rIns="0" bIns="0" rtlCol="0" anchor="ctr"/>
          <a:lstStyle/>
          <a:p>
            <a:pPr indent="0" marL="0">
              <a:buNone/>
            </a:pPr>
            <a:r>
              <a:rPr lang="en-US" sz="4000" b="1" dirty="0">
                <a:solidFill>
                  <a:srgbClr val="0B7A68"/>
                </a:solidFill>
                <a:latin typeface="Cambria" pitchFamily="34" charset="0"/>
                <a:ea typeface="Cambria" pitchFamily="34" charset="-122"/>
                <a:cs typeface="Cambria" pitchFamily="34" charset="-120"/>
              </a:rPr>
              <a:t>4</a:t>
            </a:r>
            <a:endParaRPr lang="en-US" sz="4000" dirty="0"/>
          </a:p>
        </p:txBody>
      </p:sp>
      <p:sp>
        <p:nvSpPr>
          <p:cNvPr id="8" name="Text 5"/>
          <p:cNvSpPr txBox="1"/>
          <p:nvPr/>
        </p:nvSpPr>
        <p:spPr>
          <a:xfrm>
            <a:off x="2423160" y="1188720"/>
            <a:ext cx="1783080" cy="100584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open TCP ports</a:t>
            </a:r>
            <a:endParaRPr lang="en-US" sz="1400" dirty="0"/>
          </a:p>
        </p:txBody>
      </p:sp>
      <p:sp>
        <p:nvSpPr>
          <p:cNvPr id="9" name="Shape 6"/>
          <p:cNvSpPr/>
          <p:nvPr/>
        </p:nvSpPr>
        <p:spPr>
          <a:xfrm>
            <a:off x="457200" y="2331720"/>
            <a:ext cx="3840480" cy="100584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685800" y="2331720"/>
            <a:ext cx="1737360" cy="1005840"/>
          </a:xfrm>
          <a:prstGeom prst="rect">
            <a:avLst/>
          </a:prstGeom>
          <a:noFill/>
          <a:ln/>
        </p:spPr>
        <p:txBody>
          <a:bodyPr wrap="square" lIns="0" tIns="0" rIns="0" bIns="0" rtlCol="0" anchor="ctr"/>
          <a:lstStyle/>
          <a:p>
            <a:pPr indent="0" marL="0">
              <a:buNone/>
            </a:pPr>
            <a:r>
              <a:rPr lang="en-US" sz="4000" b="1" dirty="0">
                <a:solidFill>
                  <a:srgbClr val="0B7A68"/>
                </a:solidFill>
                <a:latin typeface="Cambria" pitchFamily="34" charset="0"/>
                <a:ea typeface="Cambria" pitchFamily="34" charset="-122"/>
                <a:cs typeface="Cambria" pitchFamily="34" charset="-120"/>
              </a:rPr>
              <a:t>996</a:t>
            </a:r>
            <a:endParaRPr lang="en-US" sz="4000" dirty="0"/>
          </a:p>
        </p:txBody>
      </p:sp>
      <p:sp>
        <p:nvSpPr>
          <p:cNvPr id="11" name="Text 8"/>
          <p:cNvSpPr txBox="1"/>
          <p:nvPr/>
        </p:nvSpPr>
        <p:spPr>
          <a:xfrm>
            <a:off x="2423160" y="2331720"/>
            <a:ext cx="1783080" cy="100584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closed of 1,000 scanned</a:t>
            </a:r>
            <a:endParaRPr lang="en-US" sz="1400" dirty="0"/>
          </a:p>
        </p:txBody>
      </p:sp>
      <p:sp>
        <p:nvSpPr>
          <p:cNvPr id="12" name="Shape 9"/>
          <p:cNvSpPr/>
          <p:nvPr/>
        </p:nvSpPr>
        <p:spPr>
          <a:xfrm>
            <a:off x="457200" y="3474720"/>
            <a:ext cx="3840480" cy="100584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685800" y="3474720"/>
            <a:ext cx="1737360" cy="1005840"/>
          </a:xfrm>
          <a:prstGeom prst="rect">
            <a:avLst/>
          </a:prstGeom>
          <a:noFill/>
          <a:ln/>
        </p:spPr>
        <p:txBody>
          <a:bodyPr wrap="square" lIns="0" tIns="0" rIns="0" bIns="0" rtlCol="0" anchor="ctr"/>
          <a:lstStyle/>
          <a:p>
            <a:pPr indent="0" marL="0">
              <a:buNone/>
            </a:pPr>
            <a:r>
              <a:rPr lang="en-US" sz="3000" b="1" dirty="0">
                <a:solidFill>
                  <a:srgbClr val="0B7A68"/>
                </a:solidFill>
                <a:latin typeface="Cambria" pitchFamily="34" charset="0"/>
                <a:ea typeface="Cambria" pitchFamily="34" charset="-122"/>
                <a:cs typeface="Cambria" pitchFamily="34" charset="-120"/>
              </a:rPr>
              <a:t>0.26 s</a:t>
            </a:r>
            <a:endParaRPr lang="en-US" sz="3000" dirty="0"/>
          </a:p>
        </p:txBody>
      </p:sp>
      <p:sp>
        <p:nvSpPr>
          <p:cNvPr id="14" name="Text 11"/>
          <p:cNvSpPr txBox="1"/>
          <p:nvPr/>
        </p:nvSpPr>
        <p:spPr>
          <a:xfrm>
            <a:off x="2423160" y="3474720"/>
            <a:ext cx="1783080" cy="100584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scan duration</a:t>
            </a:r>
            <a:endParaRPr lang="en-US" sz="1400" dirty="0"/>
          </a:p>
        </p:txBody>
      </p:sp>
      <p:pic>
        <p:nvPicPr>
          <p:cNvPr id="15" name="Image 0" descr="/tmp/claude-0/-home-claude/3a832c85-598a-5f57-aa20-f705e5660106/scratchpad/doc/media/media/image2.jpg">    </p:cNvPr>
          <p:cNvPicPr>
            <a:picLocks noChangeAspect="1"/>
          </p:cNvPicPr>
          <p:nvPr/>
        </p:nvPicPr>
        <p:blipFill>
          <a:blip r:embed="rId1"/>
          <a:srcRect l="0" r="0" t="0" b="0"/>
          <a:stretch/>
        </p:blipFill>
        <p:spPr>
          <a:xfrm>
            <a:off x="4572000" y="1188720"/>
            <a:ext cx="3493008" cy="3081528"/>
          </a:xfrm>
          <a:prstGeom prst="rect">
            <a:avLst/>
          </a:prstGeom>
        </p:spPr>
      </p:pic>
      <p:sp>
        <p:nvSpPr>
          <p:cNvPr id="16" name="Text 12"/>
          <p:cNvSpPr txBox="1"/>
          <p:nvPr/>
        </p:nvSpPr>
        <p:spPr>
          <a:xfrm>
            <a:off x="4572000" y="4315968"/>
            <a:ext cx="4114800" cy="274320"/>
          </a:xfrm>
          <a:prstGeom prst="rect">
            <a:avLst/>
          </a:prstGeom>
          <a:noFill/>
          <a:ln/>
        </p:spPr>
        <p:txBody>
          <a:bodyPr wrap="square" lIns="0" tIns="0" rIns="0" bIns="0" rtlCol="0" anchor="t"/>
          <a:lstStyle/>
          <a:p>
            <a:pPr indent="0" marL="0">
              <a:buNone/>
            </a:pPr>
            <a:r>
              <a:rPr lang="en-US" sz="1100" i="1" dirty="0">
                <a:solidFill>
                  <a:srgbClr val="56657D"/>
                </a:solidFill>
                <a:latin typeface="Calibri" pitchFamily="34" charset="0"/>
                <a:ea typeface="Calibri" pitchFamily="34" charset="-122"/>
                <a:cs typeface="Calibri" pitchFamily="34" charset="-120"/>
              </a:rPr>
              <a:t>Nmap output for 127.0.0.1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B1220"/>
                </a:solidFill>
                <a:latin typeface="Cambria" pitchFamily="34" charset="0"/>
                <a:ea typeface="Cambria" pitchFamily="34" charset="-122"/>
                <a:cs typeface="Cambria" pitchFamily="34" charset="-120"/>
              </a:rPr>
              <a:t>Matching each port to a process</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1000" dirty="0">
                <a:solidFill>
                  <a:srgbClr val="56657D"/>
                </a:solidFill>
                <a:latin typeface="Calibri" pitchFamily="34" charset="0"/>
                <a:ea typeface="Calibri" pitchFamily="34" charset="-122"/>
                <a:cs typeface="Calibri" pitchFamily="34" charset="-120"/>
              </a:rPr>
              <a:t>Group 36 · Nmap Case Study</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1000" dirty="0">
                <a:solidFill>
                  <a:srgbClr val="56657D"/>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822960"/>
                <a:gridCol w="3108960"/>
                <a:gridCol w="429768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Port</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0B122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Nmap result</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0B122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Local evidence</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0B1220"/>
                    </a:solidFill>
                  </a:tcPr>
                </a:tc>
              </a:tr>
              <a:tr h="502920">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135</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Open · Windows RPC identified</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PID 1788 svchost.exe · RpcEptMapper, RpcSs</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445</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Open · microsoft-ds? (uncertain)</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PID 4 System · Server service running</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1042</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Open · afrog? (unrecognized)</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PID 5104 asus_framework.exe · 127.0.0.1</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7778</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Open · interwise? (uncertain)</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PID 6172 ArmouryCrateControlInterface · 127.0.0.1</a:t>
                      </a:r>
                      <a:endParaRPr lang="en-US" sz="1400" dirty="0">
                        <a:latin typeface="Calibri" charset="0"/>
                        <a:ea typeface="Calibri" charset="0"/>
                        <a:cs typeface="Calibri" charset="0"/>
                      </a:endParaRPr>
                    </a:p>
                  </a:txBody>
                  <a:tcPr marL="109728" marR="109728" marT="0" marB="0" anchor="ctr">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3840480"/>
            <a:ext cx="8229600" cy="685800"/>
          </a:xfrm>
          <a:prstGeom prst="rect">
            <a:avLst/>
          </a:prstGeom>
          <a:solidFill>
            <a:srgbClr val="FFF3D6"/>
          </a:solidFill>
          <a:ln w="12700">
            <a:solidFill>
              <a:srgbClr val="F5B94B"/>
            </a:solidFill>
            <a:prstDash val="solid"/>
          </a:ln>
        </p:spPr>
      </p:sp>
      <p:sp>
        <p:nvSpPr>
          <p:cNvPr id="8" name="Text 4"/>
          <p:cNvSpPr txBox="1"/>
          <p:nvPr/>
        </p:nvSpPr>
        <p:spPr>
          <a:xfrm>
            <a:off x="685800" y="3840480"/>
            <a:ext cx="7772400" cy="685800"/>
          </a:xfrm>
          <a:prstGeom prst="rect">
            <a:avLst/>
          </a:prstGeom>
          <a:noFill/>
          <a:ln/>
        </p:spPr>
        <p:txBody>
          <a:bodyPr wrap="square" lIns="0" tIns="0" rIns="0" bIns="0" rtlCol="0" anchor="ctr"/>
          <a:lstStyle/>
          <a:p>
            <a:pPr indent="0" marL="0">
              <a:buNone/>
            </a:pPr>
            <a:r>
              <a:rPr lang="en-US" sz="1500" b="1" dirty="0">
                <a:solidFill>
                  <a:srgbClr val="8A5A00"/>
                </a:solidFill>
                <a:latin typeface="Calibri" pitchFamily="34" charset="0"/>
                <a:ea typeface="Calibri" pitchFamily="34" charset="-122"/>
                <a:cs typeface="Calibri" pitchFamily="34" charset="-120"/>
              </a:rPr>
              <a:t>Local-only: </a:t>
            </a:r>
            <a:pPr indent="0" marL="0">
              <a:buNone/>
            </a:pPr>
            <a:r>
              <a:rPr lang="en-US" sz="1500" dirty="0">
                <a:solidFill>
                  <a:srgbClr val="0B1220"/>
                </a:solidFill>
                <a:latin typeface="Calibri" pitchFamily="34" charset="0"/>
                <a:ea typeface="Calibri" pitchFamily="34" charset="-122"/>
                <a:cs typeface="Calibri" pitchFamily="34" charset="-120"/>
              </a:rPr>
              <a:t>ports 1042 and 7778 listen on 127.0.0.1, so they are not shown to be network-exposed.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B1220"/>
                </a:solidFill>
                <a:latin typeface="Cambria" pitchFamily="34" charset="0"/>
                <a:ea typeface="Cambria" pitchFamily="34" charset="-122"/>
                <a:cs typeface="Cambria" pitchFamily="34" charset="-120"/>
              </a:rPr>
              <a:t>Firewall profiles: before and after</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1000" dirty="0">
                <a:solidFill>
                  <a:srgbClr val="56657D"/>
                </a:solidFill>
                <a:latin typeface="Calibri" pitchFamily="34" charset="0"/>
                <a:ea typeface="Calibri" pitchFamily="34" charset="-122"/>
                <a:cs typeface="Calibri" pitchFamily="34" charset="-120"/>
              </a:rPr>
              <a:t>Group 36 · Nmap Case Study</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1000" dirty="0">
                <a:solidFill>
                  <a:srgbClr val="56657D"/>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457200" y="1188720"/>
            <a:ext cx="3657600" cy="228600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5029200" y="1188720"/>
            <a:ext cx="3657600" cy="228600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731520" y="1280160"/>
            <a:ext cx="2743200" cy="411480"/>
          </a:xfrm>
          <a:prstGeom prst="rect">
            <a:avLst/>
          </a:prstGeom>
          <a:noFill/>
          <a:ln/>
        </p:spPr>
        <p:txBody>
          <a:bodyPr wrap="square" lIns="0" tIns="0" rIns="0" bIns="0" rtlCol="0" anchor="t"/>
          <a:lstStyle/>
          <a:p>
            <a:pPr indent="0" marL="0">
              <a:buNone/>
            </a:pPr>
            <a:r>
              <a:rPr lang="en-US" sz="2200" b="1" dirty="0">
                <a:solidFill>
                  <a:srgbClr val="0B1220"/>
                </a:solidFill>
                <a:latin typeface="Cambria" pitchFamily="34" charset="0"/>
                <a:ea typeface="Cambria" pitchFamily="34" charset="-122"/>
                <a:cs typeface="Cambria" pitchFamily="34" charset="-120"/>
              </a:rPr>
              <a:t>Before</a:t>
            </a:r>
            <a:endParaRPr lang="en-US" sz="2200" dirty="0"/>
          </a:p>
        </p:txBody>
      </p:sp>
      <p:sp>
        <p:nvSpPr>
          <p:cNvPr id="9" name="Text 6"/>
          <p:cNvSpPr txBox="1"/>
          <p:nvPr/>
        </p:nvSpPr>
        <p:spPr>
          <a:xfrm>
            <a:off x="5303520" y="1280160"/>
            <a:ext cx="2743200" cy="411480"/>
          </a:xfrm>
          <a:prstGeom prst="rect">
            <a:avLst/>
          </a:prstGeom>
          <a:noFill/>
          <a:ln/>
        </p:spPr>
        <p:txBody>
          <a:bodyPr wrap="square" lIns="0" tIns="0" rIns="0" bIns="0" rtlCol="0" anchor="t"/>
          <a:lstStyle/>
          <a:p>
            <a:pPr indent="0" marL="0">
              <a:buNone/>
            </a:pPr>
            <a:r>
              <a:rPr lang="en-US" sz="2200" b="1" dirty="0">
                <a:solidFill>
                  <a:srgbClr val="0B1220"/>
                </a:solidFill>
                <a:latin typeface="Cambria" pitchFamily="34" charset="0"/>
                <a:ea typeface="Cambria" pitchFamily="34" charset="-122"/>
                <a:cs typeface="Cambria" pitchFamily="34" charset="-120"/>
              </a:rPr>
              <a:t>After enabling</a:t>
            </a:r>
            <a:endParaRPr lang="en-US" sz="2200" dirty="0"/>
          </a:p>
        </p:txBody>
      </p:sp>
      <p:sp>
        <p:nvSpPr>
          <p:cNvPr id="10" name="Shape 7"/>
          <p:cNvSpPr/>
          <p:nvPr/>
        </p:nvSpPr>
        <p:spPr>
          <a:xfrm>
            <a:off x="960120" y="1783080"/>
            <a:ext cx="2651760" cy="457200"/>
          </a:xfrm>
          <a:prstGeom prst="roundRect">
            <a:avLst>
              <a:gd name="adj" fmla="val 20000"/>
            </a:avLst>
          </a:prstGeom>
          <a:solidFill>
            <a:srgbClr val="DDF5EE"/>
          </a:solidFill>
          <a:ln w="12700">
            <a:solidFill>
              <a:srgbClr val="0B7A68"/>
            </a:solidFill>
            <a:prstDash val="solid"/>
          </a:ln>
        </p:spPr>
      </p:sp>
      <p:sp>
        <p:nvSpPr>
          <p:cNvPr id="11" name="Text 8"/>
          <p:cNvSpPr txBox="1"/>
          <p:nvPr/>
        </p:nvSpPr>
        <p:spPr>
          <a:xfrm>
            <a:off x="1143000" y="1783080"/>
            <a:ext cx="1280160" cy="457200"/>
          </a:xfrm>
          <a:prstGeom prst="rect">
            <a:avLst/>
          </a:prstGeom>
          <a:noFill/>
          <a:ln/>
        </p:spPr>
        <p:txBody>
          <a:bodyPr wrap="square" lIns="0" tIns="0" rIns="0" bIns="0" rtlCol="0" anchor="ctr"/>
          <a:lstStyle/>
          <a:p>
            <a:pPr indent="0" marL="0">
              <a:buNone/>
            </a:pPr>
            <a:r>
              <a:rPr lang="en-US" sz="1600" b="1" dirty="0">
                <a:solidFill>
                  <a:srgbClr val="0B1220"/>
                </a:solidFill>
                <a:latin typeface="Calibri" pitchFamily="34" charset="0"/>
                <a:ea typeface="Calibri" pitchFamily="34" charset="-122"/>
                <a:cs typeface="Calibri" pitchFamily="34" charset="-120"/>
              </a:rPr>
              <a:t>Domain</a:t>
            </a:r>
            <a:endParaRPr lang="en-US" sz="1600" dirty="0"/>
          </a:p>
        </p:txBody>
      </p:sp>
      <p:sp>
        <p:nvSpPr>
          <p:cNvPr id="12" name="Text 9"/>
          <p:cNvSpPr txBox="1"/>
          <p:nvPr/>
        </p:nvSpPr>
        <p:spPr>
          <a:xfrm>
            <a:off x="2240280" y="1783080"/>
            <a:ext cx="1280160" cy="457200"/>
          </a:xfrm>
          <a:prstGeom prst="rect">
            <a:avLst/>
          </a:prstGeom>
          <a:noFill/>
          <a:ln/>
        </p:spPr>
        <p:txBody>
          <a:bodyPr wrap="square" lIns="0" tIns="0" rIns="0" bIns="0" rtlCol="0" anchor="ctr"/>
          <a:lstStyle/>
          <a:p>
            <a:pPr algn="r" indent="0" marL="0">
              <a:buNone/>
            </a:pPr>
            <a:r>
              <a:rPr lang="en-US" sz="1400" b="1" dirty="0">
                <a:solidFill>
                  <a:srgbClr val="0B7A68"/>
                </a:solidFill>
                <a:latin typeface="Calibri" pitchFamily="34" charset="0"/>
                <a:ea typeface="Calibri" pitchFamily="34" charset="-122"/>
                <a:cs typeface="Calibri" pitchFamily="34" charset="-120"/>
              </a:rPr>
              <a:t>ENABLED</a:t>
            </a:r>
            <a:endParaRPr lang="en-US" sz="1400" dirty="0"/>
          </a:p>
        </p:txBody>
      </p:sp>
      <p:sp>
        <p:nvSpPr>
          <p:cNvPr id="13" name="Shape 10"/>
          <p:cNvSpPr/>
          <p:nvPr/>
        </p:nvSpPr>
        <p:spPr>
          <a:xfrm>
            <a:off x="960120" y="2331720"/>
            <a:ext cx="2651760" cy="457200"/>
          </a:xfrm>
          <a:prstGeom prst="roundRect">
            <a:avLst>
              <a:gd name="adj" fmla="val 20000"/>
            </a:avLst>
          </a:prstGeom>
          <a:solidFill>
            <a:srgbClr val="FBE3DF"/>
          </a:solidFill>
          <a:ln w="12700">
            <a:solidFill>
              <a:srgbClr val="E5604D"/>
            </a:solidFill>
            <a:prstDash val="solid"/>
          </a:ln>
        </p:spPr>
      </p:sp>
      <p:sp>
        <p:nvSpPr>
          <p:cNvPr id="14" name="Text 11"/>
          <p:cNvSpPr txBox="1"/>
          <p:nvPr/>
        </p:nvSpPr>
        <p:spPr>
          <a:xfrm>
            <a:off x="1143000" y="2331720"/>
            <a:ext cx="1280160" cy="457200"/>
          </a:xfrm>
          <a:prstGeom prst="rect">
            <a:avLst/>
          </a:prstGeom>
          <a:noFill/>
          <a:ln/>
        </p:spPr>
        <p:txBody>
          <a:bodyPr wrap="square" lIns="0" tIns="0" rIns="0" bIns="0" rtlCol="0" anchor="ctr"/>
          <a:lstStyle/>
          <a:p>
            <a:pPr indent="0" marL="0">
              <a:buNone/>
            </a:pPr>
            <a:r>
              <a:rPr lang="en-US" sz="1600" b="1" dirty="0">
                <a:solidFill>
                  <a:srgbClr val="0B1220"/>
                </a:solidFill>
                <a:latin typeface="Calibri" pitchFamily="34" charset="0"/>
                <a:ea typeface="Calibri" pitchFamily="34" charset="-122"/>
                <a:cs typeface="Calibri" pitchFamily="34" charset="-120"/>
              </a:rPr>
              <a:t>Private</a:t>
            </a:r>
            <a:endParaRPr lang="en-US" sz="1600" dirty="0"/>
          </a:p>
        </p:txBody>
      </p:sp>
      <p:sp>
        <p:nvSpPr>
          <p:cNvPr id="15" name="Text 12"/>
          <p:cNvSpPr txBox="1"/>
          <p:nvPr/>
        </p:nvSpPr>
        <p:spPr>
          <a:xfrm>
            <a:off x="2240280" y="2331720"/>
            <a:ext cx="1280160" cy="457200"/>
          </a:xfrm>
          <a:prstGeom prst="rect">
            <a:avLst/>
          </a:prstGeom>
          <a:noFill/>
          <a:ln/>
        </p:spPr>
        <p:txBody>
          <a:bodyPr wrap="square" lIns="0" tIns="0" rIns="0" bIns="0" rtlCol="0" anchor="ctr"/>
          <a:lstStyle/>
          <a:p>
            <a:pPr algn="r" indent="0" marL="0">
              <a:buNone/>
            </a:pPr>
            <a:r>
              <a:rPr lang="en-US" sz="1400" b="1" dirty="0">
                <a:solidFill>
                  <a:srgbClr val="B03A2A"/>
                </a:solidFill>
                <a:latin typeface="Calibri" pitchFamily="34" charset="0"/>
                <a:ea typeface="Calibri" pitchFamily="34" charset="-122"/>
                <a:cs typeface="Calibri" pitchFamily="34" charset="-120"/>
              </a:rPr>
              <a:t>DISABLED</a:t>
            </a:r>
            <a:endParaRPr lang="en-US" sz="1400" dirty="0"/>
          </a:p>
        </p:txBody>
      </p:sp>
      <p:sp>
        <p:nvSpPr>
          <p:cNvPr id="16" name="Shape 13"/>
          <p:cNvSpPr/>
          <p:nvPr/>
        </p:nvSpPr>
        <p:spPr>
          <a:xfrm>
            <a:off x="960120" y="2880360"/>
            <a:ext cx="2651760" cy="457200"/>
          </a:xfrm>
          <a:prstGeom prst="roundRect">
            <a:avLst>
              <a:gd name="adj" fmla="val 20000"/>
            </a:avLst>
          </a:prstGeom>
          <a:solidFill>
            <a:srgbClr val="FBE3DF"/>
          </a:solidFill>
          <a:ln w="12700">
            <a:solidFill>
              <a:srgbClr val="E5604D"/>
            </a:solidFill>
            <a:prstDash val="solid"/>
          </a:ln>
        </p:spPr>
      </p:sp>
      <p:sp>
        <p:nvSpPr>
          <p:cNvPr id="17" name="Text 14"/>
          <p:cNvSpPr txBox="1"/>
          <p:nvPr/>
        </p:nvSpPr>
        <p:spPr>
          <a:xfrm>
            <a:off x="1143000" y="2880360"/>
            <a:ext cx="1280160" cy="457200"/>
          </a:xfrm>
          <a:prstGeom prst="rect">
            <a:avLst/>
          </a:prstGeom>
          <a:noFill/>
          <a:ln/>
        </p:spPr>
        <p:txBody>
          <a:bodyPr wrap="square" lIns="0" tIns="0" rIns="0" bIns="0" rtlCol="0" anchor="ctr"/>
          <a:lstStyle/>
          <a:p>
            <a:pPr indent="0" marL="0">
              <a:buNone/>
            </a:pPr>
            <a:r>
              <a:rPr lang="en-US" sz="1600" b="1" dirty="0">
                <a:solidFill>
                  <a:srgbClr val="0B1220"/>
                </a:solidFill>
                <a:latin typeface="Calibri" pitchFamily="34" charset="0"/>
                <a:ea typeface="Calibri" pitchFamily="34" charset="-122"/>
                <a:cs typeface="Calibri" pitchFamily="34" charset="-120"/>
              </a:rPr>
              <a:t>Public</a:t>
            </a:r>
            <a:endParaRPr lang="en-US" sz="1600" dirty="0"/>
          </a:p>
        </p:txBody>
      </p:sp>
      <p:sp>
        <p:nvSpPr>
          <p:cNvPr id="18" name="Text 15"/>
          <p:cNvSpPr txBox="1"/>
          <p:nvPr/>
        </p:nvSpPr>
        <p:spPr>
          <a:xfrm>
            <a:off x="2240280" y="2880360"/>
            <a:ext cx="1280160" cy="457200"/>
          </a:xfrm>
          <a:prstGeom prst="rect">
            <a:avLst/>
          </a:prstGeom>
          <a:noFill/>
          <a:ln/>
        </p:spPr>
        <p:txBody>
          <a:bodyPr wrap="square" lIns="0" tIns="0" rIns="0" bIns="0" rtlCol="0" anchor="ctr"/>
          <a:lstStyle/>
          <a:p>
            <a:pPr algn="r" indent="0" marL="0">
              <a:buNone/>
            </a:pPr>
            <a:r>
              <a:rPr lang="en-US" sz="1400" b="1" dirty="0">
                <a:solidFill>
                  <a:srgbClr val="B03A2A"/>
                </a:solidFill>
                <a:latin typeface="Calibri" pitchFamily="34" charset="0"/>
                <a:ea typeface="Calibri" pitchFamily="34" charset="-122"/>
                <a:cs typeface="Calibri" pitchFamily="34" charset="-120"/>
              </a:rPr>
              <a:t>DISABLED</a:t>
            </a:r>
            <a:endParaRPr lang="en-US" sz="1400" dirty="0"/>
          </a:p>
        </p:txBody>
      </p:sp>
      <p:sp>
        <p:nvSpPr>
          <p:cNvPr id="19" name="Shape 16"/>
          <p:cNvSpPr/>
          <p:nvPr/>
        </p:nvSpPr>
        <p:spPr>
          <a:xfrm>
            <a:off x="5532120" y="1783080"/>
            <a:ext cx="2651760" cy="457200"/>
          </a:xfrm>
          <a:prstGeom prst="roundRect">
            <a:avLst>
              <a:gd name="adj" fmla="val 20000"/>
            </a:avLst>
          </a:prstGeom>
          <a:solidFill>
            <a:srgbClr val="DDF5EE"/>
          </a:solidFill>
          <a:ln w="12700">
            <a:solidFill>
              <a:srgbClr val="0B7A68"/>
            </a:solidFill>
            <a:prstDash val="solid"/>
          </a:ln>
        </p:spPr>
      </p:sp>
      <p:sp>
        <p:nvSpPr>
          <p:cNvPr id="20" name="Text 17"/>
          <p:cNvSpPr txBox="1"/>
          <p:nvPr/>
        </p:nvSpPr>
        <p:spPr>
          <a:xfrm>
            <a:off x="5715000" y="1783080"/>
            <a:ext cx="1280160" cy="457200"/>
          </a:xfrm>
          <a:prstGeom prst="rect">
            <a:avLst/>
          </a:prstGeom>
          <a:noFill/>
          <a:ln/>
        </p:spPr>
        <p:txBody>
          <a:bodyPr wrap="square" lIns="0" tIns="0" rIns="0" bIns="0" rtlCol="0" anchor="ctr"/>
          <a:lstStyle/>
          <a:p>
            <a:pPr indent="0" marL="0">
              <a:buNone/>
            </a:pPr>
            <a:r>
              <a:rPr lang="en-US" sz="1600" b="1" dirty="0">
                <a:solidFill>
                  <a:srgbClr val="0B1220"/>
                </a:solidFill>
                <a:latin typeface="Calibri" pitchFamily="34" charset="0"/>
                <a:ea typeface="Calibri" pitchFamily="34" charset="-122"/>
                <a:cs typeface="Calibri" pitchFamily="34" charset="-120"/>
              </a:rPr>
              <a:t>Domain</a:t>
            </a:r>
            <a:endParaRPr lang="en-US" sz="1600" dirty="0"/>
          </a:p>
        </p:txBody>
      </p:sp>
      <p:sp>
        <p:nvSpPr>
          <p:cNvPr id="21" name="Text 18"/>
          <p:cNvSpPr txBox="1"/>
          <p:nvPr/>
        </p:nvSpPr>
        <p:spPr>
          <a:xfrm>
            <a:off x="6812280" y="1783080"/>
            <a:ext cx="1280160" cy="457200"/>
          </a:xfrm>
          <a:prstGeom prst="rect">
            <a:avLst/>
          </a:prstGeom>
          <a:noFill/>
          <a:ln/>
        </p:spPr>
        <p:txBody>
          <a:bodyPr wrap="square" lIns="0" tIns="0" rIns="0" bIns="0" rtlCol="0" anchor="ctr"/>
          <a:lstStyle/>
          <a:p>
            <a:pPr algn="r" indent="0" marL="0">
              <a:buNone/>
            </a:pPr>
            <a:r>
              <a:rPr lang="en-US" sz="1400" b="1" dirty="0">
                <a:solidFill>
                  <a:srgbClr val="0B7A68"/>
                </a:solidFill>
                <a:latin typeface="Calibri" pitchFamily="34" charset="0"/>
                <a:ea typeface="Calibri" pitchFamily="34" charset="-122"/>
                <a:cs typeface="Calibri" pitchFamily="34" charset="-120"/>
              </a:rPr>
              <a:t>ENABLED</a:t>
            </a:r>
            <a:endParaRPr lang="en-US" sz="1400" dirty="0"/>
          </a:p>
        </p:txBody>
      </p:sp>
      <p:sp>
        <p:nvSpPr>
          <p:cNvPr id="22" name="Shape 19"/>
          <p:cNvSpPr/>
          <p:nvPr/>
        </p:nvSpPr>
        <p:spPr>
          <a:xfrm>
            <a:off x="5532120" y="2331720"/>
            <a:ext cx="2651760" cy="457200"/>
          </a:xfrm>
          <a:prstGeom prst="roundRect">
            <a:avLst>
              <a:gd name="adj" fmla="val 20000"/>
            </a:avLst>
          </a:prstGeom>
          <a:solidFill>
            <a:srgbClr val="DDF5EE"/>
          </a:solidFill>
          <a:ln w="12700">
            <a:solidFill>
              <a:srgbClr val="0B7A68"/>
            </a:solidFill>
            <a:prstDash val="solid"/>
          </a:ln>
        </p:spPr>
      </p:sp>
      <p:sp>
        <p:nvSpPr>
          <p:cNvPr id="23" name="Text 20"/>
          <p:cNvSpPr txBox="1"/>
          <p:nvPr/>
        </p:nvSpPr>
        <p:spPr>
          <a:xfrm>
            <a:off x="5715000" y="2331720"/>
            <a:ext cx="1280160" cy="457200"/>
          </a:xfrm>
          <a:prstGeom prst="rect">
            <a:avLst/>
          </a:prstGeom>
          <a:noFill/>
          <a:ln/>
        </p:spPr>
        <p:txBody>
          <a:bodyPr wrap="square" lIns="0" tIns="0" rIns="0" bIns="0" rtlCol="0" anchor="ctr"/>
          <a:lstStyle/>
          <a:p>
            <a:pPr indent="0" marL="0">
              <a:buNone/>
            </a:pPr>
            <a:r>
              <a:rPr lang="en-US" sz="1600" b="1" dirty="0">
                <a:solidFill>
                  <a:srgbClr val="0B1220"/>
                </a:solidFill>
                <a:latin typeface="Calibri" pitchFamily="34" charset="0"/>
                <a:ea typeface="Calibri" pitchFamily="34" charset="-122"/>
                <a:cs typeface="Calibri" pitchFamily="34" charset="-120"/>
              </a:rPr>
              <a:t>Private</a:t>
            </a:r>
            <a:endParaRPr lang="en-US" sz="1600" dirty="0"/>
          </a:p>
        </p:txBody>
      </p:sp>
      <p:sp>
        <p:nvSpPr>
          <p:cNvPr id="24" name="Text 21"/>
          <p:cNvSpPr txBox="1"/>
          <p:nvPr/>
        </p:nvSpPr>
        <p:spPr>
          <a:xfrm>
            <a:off x="6812280" y="2331720"/>
            <a:ext cx="1280160" cy="457200"/>
          </a:xfrm>
          <a:prstGeom prst="rect">
            <a:avLst/>
          </a:prstGeom>
          <a:noFill/>
          <a:ln/>
        </p:spPr>
        <p:txBody>
          <a:bodyPr wrap="square" lIns="0" tIns="0" rIns="0" bIns="0" rtlCol="0" anchor="ctr"/>
          <a:lstStyle/>
          <a:p>
            <a:pPr algn="r" indent="0" marL="0">
              <a:buNone/>
            </a:pPr>
            <a:r>
              <a:rPr lang="en-US" sz="1400" b="1" dirty="0">
                <a:solidFill>
                  <a:srgbClr val="0B7A68"/>
                </a:solidFill>
                <a:latin typeface="Calibri" pitchFamily="34" charset="0"/>
                <a:ea typeface="Calibri" pitchFamily="34" charset="-122"/>
                <a:cs typeface="Calibri" pitchFamily="34" charset="-120"/>
              </a:rPr>
              <a:t>ENABLED</a:t>
            </a:r>
            <a:endParaRPr lang="en-US" sz="1400" dirty="0"/>
          </a:p>
        </p:txBody>
      </p:sp>
      <p:sp>
        <p:nvSpPr>
          <p:cNvPr id="25" name="Shape 22"/>
          <p:cNvSpPr/>
          <p:nvPr/>
        </p:nvSpPr>
        <p:spPr>
          <a:xfrm>
            <a:off x="5532120" y="2880360"/>
            <a:ext cx="2651760" cy="457200"/>
          </a:xfrm>
          <a:prstGeom prst="roundRect">
            <a:avLst>
              <a:gd name="adj" fmla="val 20000"/>
            </a:avLst>
          </a:prstGeom>
          <a:solidFill>
            <a:srgbClr val="DDF5EE"/>
          </a:solidFill>
          <a:ln w="12700">
            <a:solidFill>
              <a:srgbClr val="0B7A68"/>
            </a:solidFill>
            <a:prstDash val="solid"/>
          </a:ln>
        </p:spPr>
      </p:sp>
      <p:sp>
        <p:nvSpPr>
          <p:cNvPr id="26" name="Text 23"/>
          <p:cNvSpPr txBox="1"/>
          <p:nvPr/>
        </p:nvSpPr>
        <p:spPr>
          <a:xfrm>
            <a:off x="5715000" y="2880360"/>
            <a:ext cx="1280160" cy="457200"/>
          </a:xfrm>
          <a:prstGeom prst="rect">
            <a:avLst/>
          </a:prstGeom>
          <a:noFill/>
          <a:ln/>
        </p:spPr>
        <p:txBody>
          <a:bodyPr wrap="square" lIns="0" tIns="0" rIns="0" bIns="0" rtlCol="0" anchor="ctr"/>
          <a:lstStyle/>
          <a:p>
            <a:pPr indent="0" marL="0">
              <a:buNone/>
            </a:pPr>
            <a:r>
              <a:rPr lang="en-US" sz="1600" b="1" dirty="0">
                <a:solidFill>
                  <a:srgbClr val="0B1220"/>
                </a:solidFill>
                <a:latin typeface="Calibri" pitchFamily="34" charset="0"/>
                <a:ea typeface="Calibri" pitchFamily="34" charset="-122"/>
                <a:cs typeface="Calibri" pitchFamily="34" charset="-120"/>
              </a:rPr>
              <a:t>Public</a:t>
            </a:r>
            <a:endParaRPr lang="en-US" sz="1600" dirty="0"/>
          </a:p>
        </p:txBody>
      </p:sp>
      <p:sp>
        <p:nvSpPr>
          <p:cNvPr id="27" name="Text 24"/>
          <p:cNvSpPr txBox="1"/>
          <p:nvPr/>
        </p:nvSpPr>
        <p:spPr>
          <a:xfrm>
            <a:off x="6812280" y="2880360"/>
            <a:ext cx="1280160" cy="457200"/>
          </a:xfrm>
          <a:prstGeom prst="rect">
            <a:avLst/>
          </a:prstGeom>
          <a:noFill/>
          <a:ln/>
        </p:spPr>
        <p:txBody>
          <a:bodyPr wrap="square" lIns="0" tIns="0" rIns="0" bIns="0" rtlCol="0" anchor="ctr"/>
          <a:lstStyle/>
          <a:p>
            <a:pPr algn="r" indent="0" marL="0">
              <a:buNone/>
            </a:pPr>
            <a:r>
              <a:rPr lang="en-US" sz="1400" b="1" dirty="0">
                <a:solidFill>
                  <a:srgbClr val="0B7A68"/>
                </a:solidFill>
                <a:latin typeface="Calibri" pitchFamily="34" charset="0"/>
                <a:ea typeface="Calibri" pitchFamily="34" charset="-122"/>
                <a:cs typeface="Calibri" pitchFamily="34" charset="-120"/>
              </a:rPr>
              <a:t>ENABLED</a:t>
            </a:r>
            <a:endParaRPr lang="en-US" sz="1400" dirty="0"/>
          </a:p>
        </p:txBody>
      </p:sp>
      <p:sp>
        <p:nvSpPr>
          <p:cNvPr id="28" name="Text 25"/>
          <p:cNvSpPr txBox="1"/>
          <p:nvPr/>
        </p:nvSpPr>
        <p:spPr>
          <a:xfrm>
            <a:off x="4160520" y="2011680"/>
            <a:ext cx="822960" cy="731520"/>
          </a:xfrm>
          <a:prstGeom prst="rect">
            <a:avLst/>
          </a:prstGeom>
          <a:noFill/>
          <a:ln/>
        </p:spPr>
        <p:txBody>
          <a:bodyPr wrap="square" lIns="0" tIns="0" rIns="0" bIns="0" rtlCol="0" anchor="ctr"/>
          <a:lstStyle/>
          <a:p>
            <a:pPr algn="ctr" indent="0" marL="0">
              <a:buNone/>
            </a:pPr>
            <a:r>
              <a:rPr lang="en-US" sz="3600" b="1" dirty="0">
                <a:solidFill>
                  <a:srgbClr val="0B7A68"/>
                </a:solidFill>
                <a:latin typeface="Calibri" pitchFamily="34" charset="0"/>
                <a:ea typeface="Calibri" pitchFamily="34" charset="-122"/>
                <a:cs typeface="Calibri" pitchFamily="34" charset="-120"/>
              </a:rPr>
              <a:t>→</a:t>
            </a:r>
            <a:endParaRPr lang="en-US" sz="3600" dirty="0"/>
          </a:p>
        </p:txBody>
      </p:sp>
      <p:sp>
        <p:nvSpPr>
          <p:cNvPr id="29" name="Shape 26"/>
          <p:cNvSpPr/>
          <p:nvPr/>
        </p:nvSpPr>
        <p:spPr>
          <a:xfrm>
            <a:off x="457200" y="3657600"/>
            <a:ext cx="8229600" cy="868680"/>
          </a:xfrm>
          <a:prstGeom prst="rect">
            <a:avLst/>
          </a:prstGeom>
          <a:solidFill>
            <a:srgbClr val="0B1220"/>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30" name="Text 27"/>
          <p:cNvSpPr txBox="1"/>
          <p:nvPr/>
        </p:nvSpPr>
        <p:spPr>
          <a:xfrm>
            <a:off x="731520" y="3657600"/>
            <a:ext cx="7680960" cy="868680"/>
          </a:xfrm>
          <a:prstGeom prst="rect">
            <a:avLst/>
          </a:prstGeom>
          <a:noFill/>
          <a:ln/>
        </p:spPr>
        <p:txBody>
          <a:bodyPr wrap="square" lIns="0" tIns="0" rIns="0" bIns="0" rtlCol="0" anchor="ctr"/>
          <a:lstStyle/>
          <a:p>
            <a:pPr indent="0" marL="0">
              <a:buNone/>
            </a:pPr>
            <a:r>
              <a:rPr lang="en-US" sz="1500" b="1" dirty="0">
                <a:solidFill>
                  <a:srgbClr val="2DD4A7"/>
                </a:solidFill>
                <a:latin typeface="Calibri" pitchFamily="34" charset="0"/>
                <a:ea typeface="Calibri" pitchFamily="34" charset="-122"/>
                <a:cs typeface="Calibri" pitchFamily="34" charset="-120"/>
              </a:rPr>
              <a:t>Repeat scan: same four ports.  </a:t>
            </a:r>
            <a:pPr indent="0" marL="0">
              <a:buNone/>
            </a:pPr>
            <a:r>
              <a:rPr lang="en-US" sz="1500" dirty="0">
                <a:solidFill>
                  <a:srgbClr val="FFFFFF"/>
                </a:solidFill>
                <a:latin typeface="Calibri" pitchFamily="34" charset="0"/>
                <a:ea typeface="Calibri" pitchFamily="34" charset="-122"/>
                <a:cs typeface="Calibri" pitchFamily="34" charset="-120"/>
              </a:rPr>
              <a:t>Expected — a localhost scan cannot show whether other devices can reach them.</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B1220"/>
                </a:solidFill>
                <a:latin typeface="Cambria" pitchFamily="34" charset="0"/>
                <a:ea typeface="Cambria" pitchFamily="34" charset="-122"/>
                <a:cs typeface="Cambria" pitchFamily="34" charset="-120"/>
              </a:rPr>
              <a:t>SMB configuration</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1000" dirty="0">
                <a:solidFill>
                  <a:srgbClr val="56657D"/>
                </a:solidFill>
                <a:latin typeface="Calibri" pitchFamily="34" charset="0"/>
                <a:ea typeface="Calibri" pitchFamily="34" charset="-122"/>
                <a:cs typeface="Calibri" pitchFamily="34" charset="-120"/>
              </a:rPr>
              <a:t>Group 36 · Nmap Case Study</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1000" dirty="0">
                <a:solidFill>
                  <a:srgbClr val="56657D"/>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457200" y="1188720"/>
            <a:ext cx="2606040" cy="201168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40080" y="1325880"/>
            <a:ext cx="2240280" cy="1005840"/>
          </a:xfrm>
          <a:prstGeom prst="rect">
            <a:avLst/>
          </a:prstGeom>
          <a:noFill/>
          <a:ln/>
        </p:spPr>
        <p:txBody>
          <a:bodyPr wrap="square" lIns="0" tIns="0" rIns="0" bIns="0" rtlCol="0" anchor="ctr"/>
          <a:lstStyle/>
          <a:p>
            <a:pPr indent="0" marL="0">
              <a:buNone/>
            </a:pPr>
            <a:r>
              <a:rPr lang="en-US" sz="3000" b="1" dirty="0">
                <a:solidFill>
                  <a:srgbClr val="0B7A68"/>
                </a:solidFill>
                <a:latin typeface="Cambria" pitchFamily="34" charset="0"/>
                <a:ea typeface="Cambria" pitchFamily="34" charset="-122"/>
                <a:cs typeface="Cambria" pitchFamily="34" charset="-120"/>
              </a:rPr>
              <a:t>Running</a:t>
            </a:r>
            <a:endParaRPr lang="en-US" sz="3000" dirty="0"/>
          </a:p>
        </p:txBody>
      </p:sp>
      <p:sp>
        <p:nvSpPr>
          <p:cNvPr id="8" name="Text 5"/>
          <p:cNvSpPr txBox="1"/>
          <p:nvPr/>
        </p:nvSpPr>
        <p:spPr>
          <a:xfrm>
            <a:off x="640080" y="2468880"/>
            <a:ext cx="2240280" cy="548640"/>
          </a:xfrm>
          <a:prstGeom prst="rect">
            <a:avLst/>
          </a:prstGeom>
          <a:noFill/>
          <a:ln/>
        </p:spPr>
        <p:txBody>
          <a:bodyPr wrap="square" lIns="0" tIns="0" rIns="0" bIns="0" rtlCol="0" anchor="t"/>
          <a:lstStyle/>
          <a:p>
            <a:pPr indent="0" marL="0">
              <a:buNone/>
            </a:pPr>
            <a:r>
              <a:rPr lang="en-US" sz="1400" dirty="0">
                <a:solidFill>
                  <a:srgbClr val="0B1220"/>
                </a:solidFill>
                <a:latin typeface="Calibri" pitchFamily="34" charset="0"/>
                <a:ea typeface="Calibri" pitchFamily="34" charset="-122"/>
                <a:cs typeface="Calibri" pitchFamily="34" charset="-120"/>
              </a:rPr>
              <a:t>Server service (LanmanServer)</a:t>
            </a:r>
            <a:endParaRPr lang="en-US" sz="1400" dirty="0"/>
          </a:p>
        </p:txBody>
      </p:sp>
      <p:sp>
        <p:nvSpPr>
          <p:cNvPr id="9" name="Shape 6"/>
          <p:cNvSpPr/>
          <p:nvPr/>
        </p:nvSpPr>
        <p:spPr>
          <a:xfrm>
            <a:off x="3246120" y="1188720"/>
            <a:ext cx="2606040" cy="201168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3429000" y="1325880"/>
            <a:ext cx="2240280" cy="1005840"/>
          </a:xfrm>
          <a:prstGeom prst="rect">
            <a:avLst/>
          </a:prstGeom>
          <a:noFill/>
          <a:ln/>
        </p:spPr>
        <p:txBody>
          <a:bodyPr wrap="square" lIns="0" tIns="0" rIns="0" bIns="0" rtlCol="0" anchor="ctr"/>
          <a:lstStyle/>
          <a:p>
            <a:pPr indent="0" marL="0">
              <a:buNone/>
            </a:pPr>
            <a:r>
              <a:rPr lang="en-US" sz="2400" b="1" dirty="0">
                <a:solidFill>
                  <a:srgbClr val="0B7A68"/>
                </a:solidFill>
                <a:latin typeface="Cambria" pitchFamily="34" charset="0"/>
                <a:ea typeface="Cambria" pitchFamily="34" charset="-122"/>
                <a:cs typeface="Cambria" pitchFamily="34" charset="-120"/>
              </a:rPr>
              <a:t>SMB1 off</a:t>
            </a:r>
            <a:endParaRPr lang="en-US" sz="2400" dirty="0"/>
          </a:p>
          <a:p>
            <a:pPr indent="0" marL="0">
              <a:buNone/>
            </a:pPr>
            <a:r>
              <a:rPr lang="en-US" sz="2400" b="1" dirty="0">
                <a:solidFill>
                  <a:srgbClr val="0B7A68"/>
                </a:solidFill>
                <a:latin typeface="Cambria" pitchFamily="34" charset="0"/>
                <a:ea typeface="Cambria" pitchFamily="34" charset="-122"/>
                <a:cs typeface="Cambria" pitchFamily="34" charset="-120"/>
              </a:rPr>
              <a:t>SMB2 on</a:t>
            </a:r>
            <a:endParaRPr lang="en-US" sz="2400" dirty="0"/>
          </a:p>
        </p:txBody>
      </p:sp>
      <p:sp>
        <p:nvSpPr>
          <p:cNvPr id="11" name="Text 8"/>
          <p:cNvSpPr txBox="1"/>
          <p:nvPr/>
        </p:nvSpPr>
        <p:spPr>
          <a:xfrm>
            <a:off x="3429000" y="2468880"/>
            <a:ext cx="2240280" cy="548640"/>
          </a:xfrm>
          <a:prstGeom prst="rect">
            <a:avLst/>
          </a:prstGeom>
          <a:noFill/>
          <a:ln/>
        </p:spPr>
        <p:txBody>
          <a:bodyPr wrap="square" lIns="0" tIns="0" rIns="0" bIns="0" rtlCol="0" anchor="t"/>
          <a:lstStyle/>
          <a:p>
            <a:pPr indent="0" marL="0">
              <a:buNone/>
            </a:pPr>
            <a:r>
              <a:rPr lang="en-US" sz="1400" dirty="0">
                <a:solidFill>
                  <a:srgbClr val="0B1220"/>
                </a:solidFill>
                <a:latin typeface="Calibri" pitchFamily="34" charset="0"/>
                <a:ea typeface="Calibri" pitchFamily="34" charset="-122"/>
                <a:cs typeface="Calibri" pitchFamily="34" charset="-120"/>
              </a:rPr>
              <a:t>Old protocol disabled</a:t>
            </a:r>
            <a:endParaRPr lang="en-US" sz="1400" dirty="0"/>
          </a:p>
        </p:txBody>
      </p:sp>
      <p:sp>
        <p:nvSpPr>
          <p:cNvPr id="12" name="Shape 9"/>
          <p:cNvSpPr/>
          <p:nvPr/>
        </p:nvSpPr>
        <p:spPr>
          <a:xfrm>
            <a:off x="6035040" y="1188720"/>
            <a:ext cx="2606040" cy="201168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6217920" y="1325880"/>
            <a:ext cx="2240280" cy="1005840"/>
          </a:xfrm>
          <a:prstGeom prst="rect">
            <a:avLst/>
          </a:prstGeom>
          <a:noFill/>
          <a:ln/>
        </p:spPr>
        <p:txBody>
          <a:bodyPr wrap="square" lIns="0" tIns="0" rIns="0" bIns="0" rtlCol="0" anchor="ctr"/>
          <a:lstStyle/>
          <a:p>
            <a:pPr indent="0" marL="0">
              <a:buNone/>
            </a:pPr>
            <a:r>
              <a:rPr lang="en-US" sz="3000" b="1" dirty="0">
                <a:solidFill>
                  <a:srgbClr val="0B7A68"/>
                </a:solidFill>
                <a:latin typeface="Cambria" pitchFamily="34" charset="0"/>
                <a:ea typeface="Cambria" pitchFamily="34" charset="-122"/>
                <a:cs typeface="Cambria" pitchFamily="34" charset="-120"/>
              </a:rPr>
              <a:t>3 shares</a:t>
            </a:r>
            <a:endParaRPr lang="en-US" sz="3000" dirty="0"/>
          </a:p>
        </p:txBody>
      </p:sp>
      <p:sp>
        <p:nvSpPr>
          <p:cNvPr id="14" name="Text 11"/>
          <p:cNvSpPr txBox="1"/>
          <p:nvPr/>
        </p:nvSpPr>
        <p:spPr>
          <a:xfrm>
            <a:off x="6217920" y="2468880"/>
            <a:ext cx="2240280" cy="548640"/>
          </a:xfrm>
          <a:prstGeom prst="rect">
            <a:avLst/>
          </a:prstGeom>
          <a:noFill/>
          <a:ln/>
        </p:spPr>
        <p:txBody>
          <a:bodyPr wrap="square" lIns="0" tIns="0" rIns="0" bIns="0" rtlCol="0" anchor="t"/>
          <a:lstStyle/>
          <a:p>
            <a:pPr indent="0" marL="0">
              <a:buNone/>
            </a:pPr>
            <a:r>
              <a:rPr lang="en-US" sz="1400" dirty="0">
                <a:solidFill>
                  <a:srgbClr val="0B1220"/>
                </a:solidFill>
                <a:latin typeface="Calibri" pitchFamily="34" charset="0"/>
                <a:ea typeface="Calibri" pitchFamily="34" charset="-122"/>
                <a:cs typeface="Calibri" pitchFamily="34" charset="-120"/>
              </a:rPr>
              <a:t>ADMIN$ · C$ · IPC$</a:t>
            </a:r>
            <a:endParaRPr lang="en-US" sz="1400" dirty="0"/>
          </a:p>
        </p:txBody>
      </p:sp>
      <p:sp>
        <p:nvSpPr>
          <p:cNvPr id="15" name="Shape 12"/>
          <p:cNvSpPr/>
          <p:nvPr/>
        </p:nvSpPr>
        <p:spPr>
          <a:xfrm>
            <a:off x="457200" y="3429000"/>
            <a:ext cx="8229600" cy="1051560"/>
          </a:xfrm>
          <a:prstGeom prst="rect">
            <a:avLst/>
          </a:prstGeom>
          <a:solidFill>
            <a:srgbClr val="FFF3D6"/>
          </a:solidFill>
          <a:ln w="12700">
            <a:solidFill>
              <a:srgbClr val="F5B94B"/>
            </a:solidFill>
            <a:prstDash val="solid"/>
          </a:ln>
        </p:spPr>
      </p:sp>
      <p:sp>
        <p:nvSpPr>
          <p:cNvPr id="16" name="Text 13"/>
          <p:cNvSpPr txBox="1"/>
          <p:nvPr/>
        </p:nvSpPr>
        <p:spPr>
          <a:xfrm>
            <a:off x="685800" y="3429000"/>
            <a:ext cx="7772400" cy="1051560"/>
          </a:xfrm>
          <a:prstGeom prst="rect">
            <a:avLst/>
          </a:prstGeom>
          <a:noFill/>
          <a:ln/>
        </p:spPr>
        <p:txBody>
          <a:bodyPr wrap="square" lIns="0" tIns="0" rIns="0" bIns="0" rtlCol="0" anchor="ctr"/>
          <a:lstStyle/>
          <a:p>
            <a:pPr indent="0" marL="0">
              <a:buNone/>
            </a:pPr>
            <a:r>
              <a:rPr lang="en-US" sz="1500" b="1" dirty="0">
                <a:solidFill>
                  <a:srgbClr val="8A5A00"/>
                </a:solidFill>
                <a:latin typeface="Calibri" pitchFamily="34" charset="0"/>
                <a:ea typeface="Calibri" pitchFamily="34" charset="-122"/>
                <a:cs typeface="Calibri" pitchFamily="34" charset="-120"/>
              </a:rPr>
              <a:t>A share or open port is not proof of exposure. </a:t>
            </a:r>
            <a:pPr indent="0" marL="0">
              <a:buNone/>
            </a:pPr>
            <a:r>
              <a:rPr lang="en-US" sz="1500" dirty="0">
                <a:solidFill>
                  <a:srgbClr val="0B1220"/>
                </a:solidFill>
                <a:latin typeface="Calibri" pitchFamily="34" charset="0"/>
                <a:ea typeface="Calibri" pitchFamily="34" charset="-122"/>
                <a:cs typeface="Calibri" pitchFamily="34" charset="-120"/>
              </a:rPr>
              <a:t>Firewall rules, permissions and reachability from a second host must also be checked.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B1220"/>
                </a:solidFill>
                <a:latin typeface="Cambria" pitchFamily="34" charset="0"/>
                <a:ea typeface="Cambria" pitchFamily="34" charset="-122"/>
                <a:cs typeface="Cambria" pitchFamily="34" charset="-120"/>
              </a:rPr>
              <a:t>Security recommendations</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1000" dirty="0">
                <a:solidFill>
                  <a:srgbClr val="56657D"/>
                </a:solidFill>
                <a:latin typeface="Calibri" pitchFamily="34" charset="0"/>
                <a:ea typeface="Calibri" pitchFamily="34" charset="-122"/>
                <a:cs typeface="Calibri" pitchFamily="34" charset="-120"/>
              </a:rPr>
              <a:t>Group 36 · Nmap Case Study</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1000" dirty="0">
                <a:solidFill>
                  <a:srgbClr val="56657D"/>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457200" y="1188720"/>
            <a:ext cx="3977640" cy="9601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640080" y="1435608"/>
            <a:ext cx="457200" cy="457200"/>
          </a:xfrm>
          <a:prstGeom prst="ellipse">
            <a:avLst/>
          </a:prstGeom>
          <a:solidFill>
            <a:srgbClr val="0B7A68"/>
          </a:solidFill>
          <a:ln w="12700">
            <a:solidFill>
              <a:srgbClr val="0B7A68"/>
            </a:solidFill>
            <a:prstDash val="solid"/>
          </a:ln>
        </p:spPr>
      </p:sp>
      <p:sp>
        <p:nvSpPr>
          <p:cNvPr id="8" name="Text 5"/>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280160" y="1188720"/>
            <a:ext cx="3017520" cy="96012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Keep Windows Firewall enabled on all profiles; review inbound rules</a:t>
            </a:r>
            <a:endParaRPr lang="en-US" sz="1400" dirty="0"/>
          </a:p>
        </p:txBody>
      </p:sp>
      <p:sp>
        <p:nvSpPr>
          <p:cNvPr id="10" name="Shape 7"/>
          <p:cNvSpPr/>
          <p:nvPr/>
        </p:nvSpPr>
        <p:spPr>
          <a:xfrm>
            <a:off x="4709160" y="1188720"/>
            <a:ext cx="3977640" cy="9601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892040" y="1435608"/>
            <a:ext cx="457200" cy="457200"/>
          </a:xfrm>
          <a:prstGeom prst="ellipse">
            <a:avLst/>
          </a:prstGeom>
          <a:solidFill>
            <a:srgbClr val="0B7A68"/>
          </a:solidFill>
          <a:ln w="12700">
            <a:solidFill>
              <a:srgbClr val="0B7A68"/>
            </a:solidFill>
            <a:prstDash val="solid"/>
          </a:ln>
        </p:spPr>
      </p:sp>
      <p:sp>
        <p:nvSpPr>
          <p:cNvPr id="12" name="Text 9"/>
          <p:cNvSpPr txBox="1"/>
          <p:nvPr/>
        </p:nvSpPr>
        <p:spPr>
          <a:xfrm>
            <a:off x="4892040" y="14356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5532120" y="1188720"/>
            <a:ext cx="3017520" cy="96012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Keep SMB1 disabled; keep SMB2/SMB3 patched</a:t>
            </a:r>
            <a:endParaRPr lang="en-US" sz="1400" dirty="0"/>
          </a:p>
        </p:txBody>
      </p:sp>
      <p:sp>
        <p:nvSpPr>
          <p:cNvPr id="14" name="Shape 11"/>
          <p:cNvSpPr/>
          <p:nvPr/>
        </p:nvSpPr>
        <p:spPr>
          <a:xfrm>
            <a:off x="457200" y="2286000"/>
            <a:ext cx="3977640" cy="9601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0080" y="2532888"/>
            <a:ext cx="457200" cy="457200"/>
          </a:xfrm>
          <a:prstGeom prst="ellipse">
            <a:avLst/>
          </a:prstGeom>
          <a:solidFill>
            <a:srgbClr val="0B7A68"/>
          </a:solidFill>
          <a:ln w="12700">
            <a:solidFill>
              <a:srgbClr val="0B7A68"/>
            </a:solidFill>
            <a:prstDash val="solid"/>
          </a:ln>
        </p:spPr>
      </p:sp>
      <p:sp>
        <p:nvSpPr>
          <p:cNvPr id="16" name="Text 13"/>
          <p:cNvSpPr txBox="1"/>
          <p:nvPr/>
        </p:nvSpPr>
        <p:spPr>
          <a:xfrm>
            <a:off x="640080" y="25328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1280160" y="2286000"/>
            <a:ext cx="3017520" cy="96012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Review need for SMB server and admin shares, check dependencies first</a:t>
            </a:r>
            <a:endParaRPr lang="en-US" sz="1400" dirty="0"/>
          </a:p>
        </p:txBody>
      </p:sp>
      <p:sp>
        <p:nvSpPr>
          <p:cNvPr id="18" name="Shape 15"/>
          <p:cNvSpPr/>
          <p:nvPr/>
        </p:nvSpPr>
        <p:spPr>
          <a:xfrm>
            <a:off x="4709160" y="2286000"/>
            <a:ext cx="3977640" cy="9601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4892040" y="2532888"/>
            <a:ext cx="457200" cy="457200"/>
          </a:xfrm>
          <a:prstGeom prst="ellipse">
            <a:avLst/>
          </a:prstGeom>
          <a:solidFill>
            <a:srgbClr val="0B7A68"/>
          </a:solidFill>
          <a:ln w="12700">
            <a:solidFill>
              <a:srgbClr val="0B7A68"/>
            </a:solidFill>
            <a:prstDash val="solid"/>
          </a:ln>
        </p:spPr>
      </p:sp>
      <p:sp>
        <p:nvSpPr>
          <p:cNvPr id="20" name="Text 17"/>
          <p:cNvSpPr txBox="1"/>
          <p:nvPr/>
        </p:nvSpPr>
        <p:spPr>
          <a:xfrm>
            <a:off x="4892040" y="25328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8"/>
          <p:cNvSpPr txBox="1"/>
          <p:nvPr/>
        </p:nvSpPr>
        <p:spPr>
          <a:xfrm>
            <a:off x="5532120" y="2286000"/>
            <a:ext cx="3017520" cy="96012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Review ASUS listeners (1042, 7778) via vendor documentation</a:t>
            </a:r>
            <a:endParaRPr lang="en-US" sz="1400" dirty="0"/>
          </a:p>
        </p:txBody>
      </p:sp>
      <p:sp>
        <p:nvSpPr>
          <p:cNvPr id="22" name="Shape 19"/>
          <p:cNvSpPr/>
          <p:nvPr/>
        </p:nvSpPr>
        <p:spPr>
          <a:xfrm>
            <a:off x="457200" y="3383280"/>
            <a:ext cx="3977640" cy="9601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40080" y="3630168"/>
            <a:ext cx="457200" cy="457200"/>
          </a:xfrm>
          <a:prstGeom prst="ellipse">
            <a:avLst/>
          </a:prstGeom>
          <a:solidFill>
            <a:srgbClr val="0B7A68"/>
          </a:solidFill>
          <a:ln w="12700">
            <a:solidFill>
              <a:srgbClr val="0B7A68"/>
            </a:solidFill>
            <a:prstDash val="solid"/>
          </a:ln>
        </p:spPr>
      </p:sp>
      <p:sp>
        <p:nvSpPr>
          <p:cNvPr id="24" name="Text 21"/>
          <p:cNvSpPr txBox="1"/>
          <p:nvPr/>
        </p:nvSpPr>
        <p:spPr>
          <a:xfrm>
            <a:off x="640080" y="36301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2"/>
          <p:cNvSpPr txBox="1"/>
          <p:nvPr/>
        </p:nvSpPr>
        <p:spPr>
          <a:xfrm>
            <a:off x="1280160" y="3383280"/>
            <a:ext cx="3017520" cy="96012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Re-scan after changes; compare saved outputs and keep records</a:t>
            </a:r>
            <a:endParaRPr lang="en-US" sz="1400" dirty="0"/>
          </a:p>
        </p:txBody>
      </p:sp>
      <p:sp>
        <p:nvSpPr>
          <p:cNvPr id="26" name="Shape 23"/>
          <p:cNvSpPr/>
          <p:nvPr/>
        </p:nvSpPr>
        <p:spPr>
          <a:xfrm>
            <a:off x="4709160" y="3383280"/>
            <a:ext cx="3977640" cy="9601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27" name="Shape 24"/>
          <p:cNvSpPr/>
          <p:nvPr/>
        </p:nvSpPr>
        <p:spPr>
          <a:xfrm>
            <a:off x="4892040" y="3630168"/>
            <a:ext cx="457200" cy="457200"/>
          </a:xfrm>
          <a:prstGeom prst="ellipse">
            <a:avLst/>
          </a:prstGeom>
          <a:solidFill>
            <a:srgbClr val="0B7A68"/>
          </a:solidFill>
          <a:ln w="12700">
            <a:solidFill>
              <a:srgbClr val="0B7A68"/>
            </a:solidFill>
            <a:prstDash val="solid"/>
          </a:ln>
        </p:spPr>
      </p:sp>
      <p:sp>
        <p:nvSpPr>
          <p:cNvPr id="28" name="Text 25"/>
          <p:cNvSpPr txBox="1"/>
          <p:nvPr/>
        </p:nvSpPr>
        <p:spPr>
          <a:xfrm>
            <a:off x="4892040" y="36301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9" name="Text 26"/>
          <p:cNvSpPr txBox="1"/>
          <p:nvPr/>
        </p:nvSpPr>
        <p:spPr>
          <a:xfrm>
            <a:off x="5532120" y="3383280"/>
            <a:ext cx="3017520" cy="96012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Scan only systems you are explicitly authorized to scan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0B1220"/>
                </a:solidFill>
                <a:latin typeface="Cambria" pitchFamily="34" charset="0"/>
                <a:ea typeface="Cambria" pitchFamily="34" charset="-122"/>
                <a:cs typeface="Cambria" pitchFamily="34" charset="-120"/>
              </a:rPr>
              <a:t>Limitations</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1000" dirty="0">
                <a:solidFill>
                  <a:srgbClr val="56657D"/>
                </a:solidFill>
                <a:latin typeface="Calibri" pitchFamily="34" charset="0"/>
                <a:ea typeface="Calibri" pitchFamily="34" charset="-122"/>
                <a:cs typeface="Calibri" pitchFamily="34" charset="-120"/>
              </a:rPr>
              <a:t>Group 36 · Nmap Case Study</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1000" dirty="0">
                <a:solidFill>
                  <a:srgbClr val="56657D"/>
                </a:solidFill>
                <a:latin typeface="Calibri" pitchFamily="34" charset="0"/>
                <a:ea typeface="Calibri" pitchFamily="34" charset="-122"/>
                <a:cs typeface="Calibri" pitchFamily="34" charset="-120"/>
              </a:rPr>
              <a:t>13</a:t>
            </a:r>
            <a:endParaRPr lang="en-US" sz="1000" dirty="0"/>
          </a:p>
        </p:txBody>
      </p:sp>
      <p:sp>
        <p:nvSpPr>
          <p:cNvPr id="6" name="Shape 3"/>
          <p:cNvSpPr/>
          <p:nvPr/>
        </p:nvSpPr>
        <p:spPr>
          <a:xfrm>
            <a:off x="457200" y="1188720"/>
            <a:ext cx="3291840" cy="3291840"/>
          </a:xfrm>
          <a:prstGeom prst="rect">
            <a:avLst/>
          </a:prstGeom>
          <a:solidFill>
            <a:srgbClr val="0B1220"/>
          </a:solidFill>
          <a:ln w="12700">
            <a:solidFill>
              <a:srgbClr val="0B1220"/>
            </a:solidFill>
            <a:prstDash val="solid"/>
          </a:ln>
        </p:spPr>
      </p:sp>
      <p:sp>
        <p:nvSpPr>
          <p:cNvPr id="7" name="Text 4"/>
          <p:cNvSpPr txBox="1"/>
          <p:nvPr/>
        </p:nvSpPr>
        <p:spPr>
          <a:xfrm>
            <a:off x="640080" y="1645920"/>
            <a:ext cx="2926080" cy="640080"/>
          </a:xfrm>
          <a:prstGeom prst="rect">
            <a:avLst/>
          </a:prstGeom>
          <a:noFill/>
          <a:ln/>
        </p:spPr>
        <p:txBody>
          <a:bodyPr wrap="square" lIns="0" tIns="0" rIns="0" bIns="0" rtlCol="0" anchor="t"/>
          <a:lstStyle/>
          <a:p>
            <a:pPr algn="ctr" indent="0" marL="0">
              <a:buNone/>
            </a:pPr>
            <a:r>
              <a:rPr lang="en-US" sz="3000" b="1" dirty="0">
                <a:solidFill>
                  <a:srgbClr val="2DD4A7"/>
                </a:solidFill>
                <a:latin typeface="Courier New" pitchFamily="34" charset="0"/>
                <a:ea typeface="Courier New" pitchFamily="34" charset="-122"/>
                <a:cs typeface="Courier New" pitchFamily="34" charset="-120"/>
              </a:rPr>
              <a:t>127.0.0.1</a:t>
            </a:r>
            <a:endParaRPr lang="en-US" sz="3000" dirty="0"/>
          </a:p>
        </p:txBody>
      </p:sp>
      <p:sp>
        <p:nvSpPr>
          <p:cNvPr id="8" name="Text 5"/>
          <p:cNvSpPr txBox="1"/>
          <p:nvPr/>
        </p:nvSpPr>
        <p:spPr>
          <a:xfrm>
            <a:off x="731520" y="2560320"/>
            <a:ext cx="2743200" cy="137160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Every scan targeted localhost, so remote reachability is untested.</a:t>
            </a:r>
            <a:endParaRPr lang="en-US" sz="1600" dirty="0"/>
          </a:p>
        </p:txBody>
      </p:sp>
      <p:sp>
        <p:nvSpPr>
          <p:cNvPr id="9" name="Shape 6"/>
          <p:cNvSpPr/>
          <p:nvPr/>
        </p:nvSpPr>
        <p:spPr>
          <a:xfrm>
            <a:off x="4023360" y="1188720"/>
            <a:ext cx="4663440" cy="7315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160520" y="1353312"/>
            <a:ext cx="402336" cy="402336"/>
          </a:xfrm>
          <a:prstGeom prst="ellipse">
            <a:avLst/>
          </a:prstGeom>
          <a:solidFill>
            <a:srgbClr val="F5B94B"/>
          </a:solidFill>
          <a:ln w="12700">
            <a:solidFill>
              <a:srgbClr val="F5B94B"/>
            </a:solidFill>
            <a:prstDash val="solid"/>
          </a:ln>
        </p:spPr>
      </p:sp>
      <p:sp>
        <p:nvSpPr>
          <p:cNvPr id="11" name="Text 8"/>
          <p:cNvSpPr txBox="1"/>
          <p:nvPr/>
        </p:nvSpPr>
        <p:spPr>
          <a:xfrm>
            <a:off x="4160520" y="1353312"/>
            <a:ext cx="402336" cy="402336"/>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a:t>
            </a:r>
            <a:endParaRPr lang="en-US" sz="1300" dirty="0"/>
          </a:p>
        </p:txBody>
      </p:sp>
      <p:sp>
        <p:nvSpPr>
          <p:cNvPr id="12" name="Text 9"/>
          <p:cNvSpPr txBox="1"/>
          <p:nvPr/>
        </p:nvSpPr>
        <p:spPr>
          <a:xfrm>
            <a:off x="4709160" y="1188720"/>
            <a:ext cx="3840480" cy="73152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No second device for a controlled remote test</a:t>
            </a:r>
            <a:endParaRPr lang="en-US" sz="1400" dirty="0"/>
          </a:p>
        </p:txBody>
      </p:sp>
      <p:sp>
        <p:nvSpPr>
          <p:cNvPr id="13" name="Shape 10"/>
          <p:cNvSpPr/>
          <p:nvPr/>
        </p:nvSpPr>
        <p:spPr>
          <a:xfrm>
            <a:off x="4023360" y="2039112"/>
            <a:ext cx="4663440" cy="7315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4160520" y="2203704"/>
            <a:ext cx="402336" cy="402336"/>
          </a:xfrm>
          <a:prstGeom prst="ellipse">
            <a:avLst/>
          </a:prstGeom>
          <a:solidFill>
            <a:srgbClr val="F5B94B"/>
          </a:solidFill>
          <a:ln w="12700">
            <a:solidFill>
              <a:srgbClr val="F5B94B"/>
            </a:solidFill>
            <a:prstDash val="solid"/>
          </a:ln>
        </p:spPr>
      </p:sp>
      <p:sp>
        <p:nvSpPr>
          <p:cNvPr id="15" name="Text 12"/>
          <p:cNvSpPr txBox="1"/>
          <p:nvPr/>
        </p:nvSpPr>
        <p:spPr>
          <a:xfrm>
            <a:off x="4160520" y="2203704"/>
            <a:ext cx="402336" cy="402336"/>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a:t>
            </a:r>
            <a:endParaRPr lang="en-US" sz="1300" dirty="0"/>
          </a:p>
        </p:txBody>
      </p:sp>
      <p:sp>
        <p:nvSpPr>
          <p:cNvPr id="16" name="Text 13"/>
          <p:cNvSpPr txBox="1"/>
          <p:nvPr/>
        </p:nvSpPr>
        <p:spPr>
          <a:xfrm>
            <a:off x="4709160" y="2039112"/>
            <a:ext cx="3840480" cy="73152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Services on 1042 and 7778 not conclusively identified; 445 label uncertain</a:t>
            </a:r>
            <a:endParaRPr lang="en-US" sz="1400" dirty="0"/>
          </a:p>
        </p:txBody>
      </p:sp>
      <p:sp>
        <p:nvSpPr>
          <p:cNvPr id="17" name="Shape 14"/>
          <p:cNvSpPr/>
          <p:nvPr/>
        </p:nvSpPr>
        <p:spPr>
          <a:xfrm>
            <a:off x="4023360" y="2889504"/>
            <a:ext cx="4663440" cy="7315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4160520" y="3054096"/>
            <a:ext cx="402336" cy="402336"/>
          </a:xfrm>
          <a:prstGeom prst="ellipse">
            <a:avLst/>
          </a:prstGeom>
          <a:solidFill>
            <a:srgbClr val="F5B94B"/>
          </a:solidFill>
          <a:ln w="12700">
            <a:solidFill>
              <a:srgbClr val="F5B94B"/>
            </a:solidFill>
            <a:prstDash val="solid"/>
          </a:ln>
        </p:spPr>
      </p:sp>
      <p:sp>
        <p:nvSpPr>
          <p:cNvPr id="19" name="Text 16"/>
          <p:cNvSpPr txBox="1"/>
          <p:nvPr/>
        </p:nvSpPr>
        <p:spPr>
          <a:xfrm>
            <a:off x="4160520" y="3054096"/>
            <a:ext cx="402336" cy="402336"/>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a:t>
            </a:r>
            <a:endParaRPr lang="en-US" sz="1300" dirty="0"/>
          </a:p>
        </p:txBody>
      </p:sp>
      <p:sp>
        <p:nvSpPr>
          <p:cNvPr id="20" name="Text 17"/>
          <p:cNvSpPr txBox="1"/>
          <p:nvPr/>
        </p:nvSpPr>
        <p:spPr>
          <a:xfrm>
            <a:off x="4709160" y="2889504"/>
            <a:ext cx="3840480" cy="73152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No vulnerability scan or credential testing</a:t>
            </a:r>
            <a:endParaRPr lang="en-US" sz="1400" dirty="0"/>
          </a:p>
        </p:txBody>
      </p:sp>
      <p:sp>
        <p:nvSpPr>
          <p:cNvPr id="21" name="Shape 18"/>
          <p:cNvSpPr/>
          <p:nvPr/>
        </p:nvSpPr>
        <p:spPr>
          <a:xfrm>
            <a:off x="4023360" y="3739896"/>
            <a:ext cx="4663440" cy="731520"/>
          </a:xfrm>
          <a:prstGeom prst="rect">
            <a:avLst/>
          </a:prstGeom>
          <a:solidFill>
            <a:srgbClr val="FFFFFF"/>
          </a:solidFill>
          <a:ln w="9525">
            <a:solidFill>
              <a:srgbClr val="DCE3EC"/>
            </a:solidFill>
            <a:prstDash val="solid"/>
          </a:ln>
          <a:effectLst>
            <a:outerShdw sx="100000" sy="100000" kx="0" ky="0" algn="bl" rotWithShape="0" blurRad="76200" dist="25400" dir="5400000">
              <a:srgbClr val="000000">
                <a:alpha val="12000"/>
              </a:srgbClr>
            </a:outerShdw>
          </a:effectLst>
        </p:spPr>
      </p:sp>
      <p:sp>
        <p:nvSpPr>
          <p:cNvPr id="22" name="Shape 19"/>
          <p:cNvSpPr/>
          <p:nvPr/>
        </p:nvSpPr>
        <p:spPr>
          <a:xfrm>
            <a:off x="4160520" y="3904488"/>
            <a:ext cx="402336" cy="402336"/>
          </a:xfrm>
          <a:prstGeom prst="ellipse">
            <a:avLst/>
          </a:prstGeom>
          <a:solidFill>
            <a:srgbClr val="F5B94B"/>
          </a:solidFill>
          <a:ln w="12700">
            <a:solidFill>
              <a:srgbClr val="F5B94B"/>
            </a:solidFill>
            <a:prstDash val="solid"/>
          </a:ln>
        </p:spPr>
      </p:sp>
      <p:sp>
        <p:nvSpPr>
          <p:cNvPr id="23" name="Text 20"/>
          <p:cNvSpPr txBox="1"/>
          <p:nvPr/>
        </p:nvSpPr>
        <p:spPr>
          <a:xfrm>
            <a:off x="4160520" y="3904488"/>
            <a:ext cx="402336" cy="402336"/>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a:t>
            </a:r>
            <a:endParaRPr lang="en-US" sz="1300" dirty="0"/>
          </a:p>
        </p:txBody>
      </p:sp>
      <p:sp>
        <p:nvSpPr>
          <p:cNvPr id="24" name="Text 21"/>
          <p:cNvSpPr txBox="1"/>
          <p:nvPr/>
        </p:nvSpPr>
        <p:spPr>
          <a:xfrm>
            <a:off x="4709160" y="3739896"/>
            <a:ext cx="3840480" cy="73152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Not every firewall rule inspected; router not tested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3" name="Text 0"/>
          <p:cNvSpPr txBox="1"/>
          <p:nvPr/>
        </p:nvSpPr>
        <p:spPr>
          <a:xfrm>
            <a:off x="548640" y="365760"/>
            <a:ext cx="45720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4" name="Shape 1"/>
          <p:cNvSpPr/>
          <p:nvPr/>
        </p:nvSpPr>
        <p:spPr>
          <a:xfrm>
            <a:off x="548640" y="1325880"/>
            <a:ext cx="548640" cy="548640"/>
          </a:xfrm>
          <a:prstGeom prst="ellipse">
            <a:avLst/>
          </a:prstGeom>
          <a:solidFill>
            <a:srgbClr val="2DD4A7"/>
          </a:solidFill>
          <a:ln w="12700">
            <a:solidFill>
              <a:srgbClr val="2DD4A7"/>
            </a:solidFill>
            <a:prstDash val="solid"/>
          </a:ln>
        </p:spPr>
      </p:sp>
      <p:sp>
        <p:nvSpPr>
          <p:cNvPr id="5" name="Text 2"/>
          <p:cNvSpPr txBox="1"/>
          <p:nvPr/>
        </p:nvSpPr>
        <p:spPr>
          <a:xfrm>
            <a:off x="548640" y="1325880"/>
            <a:ext cx="548640" cy="548640"/>
          </a:xfrm>
          <a:prstGeom prst="rect">
            <a:avLst/>
          </a:prstGeom>
          <a:noFill/>
          <a:ln/>
        </p:spPr>
        <p:txBody>
          <a:bodyPr wrap="square" lIns="0" tIns="0" rIns="0" bIns="0" rtlCol="0" anchor="ctr"/>
          <a:lstStyle/>
          <a:p>
            <a:pPr algn="ctr" indent="0" marL="0">
              <a:buNone/>
            </a:pPr>
            <a:r>
              <a:rPr lang="en-US" sz="1800" b="1" dirty="0">
                <a:solidFill>
                  <a:srgbClr val="0B1220"/>
                </a:solidFill>
                <a:latin typeface="Calibri" pitchFamily="34" charset="0"/>
                <a:ea typeface="Calibri" pitchFamily="34" charset="-122"/>
                <a:cs typeface="Calibri" pitchFamily="34" charset="-120"/>
              </a:rPr>
              <a:t>1</a:t>
            </a:r>
            <a:endParaRPr lang="en-US" sz="1800" dirty="0"/>
          </a:p>
        </p:txBody>
      </p:sp>
      <p:sp>
        <p:nvSpPr>
          <p:cNvPr id="6" name="Text 3"/>
          <p:cNvSpPr txBox="1"/>
          <p:nvPr/>
        </p:nvSpPr>
        <p:spPr>
          <a:xfrm>
            <a:off x="1325880" y="1234440"/>
            <a:ext cx="4023360" cy="41148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4 open ports found</a:t>
            </a:r>
            <a:endParaRPr lang="en-US" sz="1900" dirty="0"/>
          </a:p>
        </p:txBody>
      </p:sp>
      <p:sp>
        <p:nvSpPr>
          <p:cNvPr id="7" name="Text 4"/>
          <p:cNvSpPr txBox="1"/>
          <p:nvPr/>
        </p:nvSpPr>
        <p:spPr>
          <a:xfrm>
            <a:off x="1325880" y="1673352"/>
            <a:ext cx="4023360" cy="502920"/>
          </a:xfrm>
          <a:prstGeom prst="rect">
            <a:avLst/>
          </a:prstGeom>
          <a:noFill/>
          <a:ln/>
        </p:spPr>
        <p:txBody>
          <a:bodyPr wrap="square" lIns="0" tIns="0" rIns="0" bIns="0" rtlCol="0" anchor="t"/>
          <a:lstStyle/>
          <a:p>
            <a:pPr indent="0" marL="0">
              <a:buNone/>
            </a:pPr>
            <a:r>
              <a:rPr lang="en-US" sz="1400" dirty="0">
                <a:solidFill>
                  <a:srgbClr val="8FA3BF"/>
                </a:solidFill>
                <a:latin typeface="Calibri" pitchFamily="34" charset="0"/>
                <a:ea typeface="Calibri" pitchFamily="34" charset="-122"/>
                <a:cs typeface="Calibri" pitchFamily="34" charset="-120"/>
              </a:rPr>
              <a:t>135, 445, 1042, 7778 — same after firewall check</a:t>
            </a:r>
            <a:endParaRPr lang="en-US" sz="1400" dirty="0"/>
          </a:p>
        </p:txBody>
      </p:sp>
      <p:sp>
        <p:nvSpPr>
          <p:cNvPr id="8" name="Shape 5"/>
          <p:cNvSpPr/>
          <p:nvPr/>
        </p:nvSpPr>
        <p:spPr>
          <a:xfrm>
            <a:off x="548640" y="2377440"/>
            <a:ext cx="548640" cy="548640"/>
          </a:xfrm>
          <a:prstGeom prst="ellipse">
            <a:avLst/>
          </a:prstGeom>
          <a:solidFill>
            <a:srgbClr val="2DD4A7"/>
          </a:solidFill>
          <a:ln w="12700">
            <a:solidFill>
              <a:srgbClr val="2DD4A7"/>
            </a:solidFill>
            <a:prstDash val="solid"/>
          </a:ln>
        </p:spPr>
      </p:sp>
      <p:sp>
        <p:nvSpPr>
          <p:cNvPr id="9" name="Text 6"/>
          <p:cNvSpPr txBox="1"/>
          <p:nvPr/>
        </p:nvSpPr>
        <p:spPr>
          <a:xfrm>
            <a:off x="548640" y="2377440"/>
            <a:ext cx="548640" cy="548640"/>
          </a:xfrm>
          <a:prstGeom prst="rect">
            <a:avLst/>
          </a:prstGeom>
          <a:noFill/>
          <a:ln/>
        </p:spPr>
        <p:txBody>
          <a:bodyPr wrap="square" lIns="0" tIns="0" rIns="0" bIns="0" rtlCol="0" anchor="ctr"/>
          <a:lstStyle/>
          <a:p>
            <a:pPr algn="ctr" indent="0" marL="0">
              <a:buNone/>
            </a:pPr>
            <a:r>
              <a:rPr lang="en-US" sz="1800" b="1" dirty="0">
                <a:solidFill>
                  <a:srgbClr val="0B1220"/>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286000"/>
            <a:ext cx="4023360" cy="41148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Context makes them meaningful</a:t>
            </a:r>
            <a:endParaRPr lang="en-US" sz="1900" dirty="0"/>
          </a:p>
        </p:txBody>
      </p:sp>
      <p:sp>
        <p:nvSpPr>
          <p:cNvPr id="11" name="Text 8"/>
          <p:cNvSpPr txBox="1"/>
          <p:nvPr/>
        </p:nvSpPr>
        <p:spPr>
          <a:xfrm>
            <a:off x="1325880" y="2724912"/>
            <a:ext cx="4023360" cy="502920"/>
          </a:xfrm>
          <a:prstGeom prst="rect">
            <a:avLst/>
          </a:prstGeom>
          <a:noFill/>
          <a:ln/>
        </p:spPr>
        <p:txBody>
          <a:bodyPr wrap="square" lIns="0" tIns="0" rIns="0" bIns="0" rtlCol="0" anchor="t"/>
          <a:lstStyle/>
          <a:p>
            <a:pPr indent="0" marL="0">
              <a:buNone/>
            </a:pPr>
            <a:r>
              <a:rPr lang="en-US" sz="1400" dirty="0">
                <a:solidFill>
                  <a:srgbClr val="8FA3BF"/>
                </a:solidFill>
                <a:latin typeface="Calibri" pitchFamily="34" charset="0"/>
                <a:ea typeface="Calibri" pitchFamily="34" charset="-122"/>
                <a:cs typeface="Calibri" pitchFamily="34" charset="-120"/>
              </a:rPr>
              <a:t>Process identity, SMB settings, firewall policy, scope</a:t>
            </a:r>
            <a:endParaRPr lang="en-US" sz="1400" dirty="0"/>
          </a:p>
        </p:txBody>
      </p:sp>
      <p:sp>
        <p:nvSpPr>
          <p:cNvPr id="12" name="Shape 9"/>
          <p:cNvSpPr/>
          <p:nvPr/>
        </p:nvSpPr>
        <p:spPr>
          <a:xfrm>
            <a:off x="548640" y="3429000"/>
            <a:ext cx="548640" cy="548640"/>
          </a:xfrm>
          <a:prstGeom prst="ellipse">
            <a:avLst/>
          </a:prstGeom>
          <a:solidFill>
            <a:srgbClr val="2DD4A7"/>
          </a:solidFill>
          <a:ln w="12700">
            <a:solidFill>
              <a:srgbClr val="2DD4A7"/>
            </a:solidFill>
            <a:prstDash val="solid"/>
          </a:ln>
        </p:spPr>
      </p:sp>
      <p:sp>
        <p:nvSpPr>
          <p:cNvPr id="13" name="Text 10"/>
          <p:cNvSpPr txBox="1"/>
          <p:nvPr/>
        </p:nvSpPr>
        <p:spPr>
          <a:xfrm>
            <a:off x="548640" y="3429000"/>
            <a:ext cx="548640" cy="548640"/>
          </a:xfrm>
          <a:prstGeom prst="rect">
            <a:avLst/>
          </a:prstGeom>
          <a:noFill/>
          <a:ln/>
        </p:spPr>
        <p:txBody>
          <a:bodyPr wrap="square" lIns="0" tIns="0" rIns="0" bIns="0" rtlCol="0" anchor="ctr"/>
          <a:lstStyle/>
          <a:p>
            <a:pPr algn="ctr" indent="0" marL="0">
              <a:buNone/>
            </a:pPr>
            <a:r>
              <a:rPr lang="en-US" sz="1800" b="1" dirty="0">
                <a:solidFill>
                  <a:srgbClr val="0B1220"/>
                </a:solidFill>
                <a:latin typeface="Calibri" pitchFamily="34" charset="0"/>
                <a:ea typeface="Calibri" pitchFamily="34" charset="-122"/>
                <a:cs typeface="Calibri" pitchFamily="34" charset="-120"/>
              </a:rPr>
              <a:t>3</a:t>
            </a:r>
            <a:endParaRPr lang="en-US" sz="1800" dirty="0"/>
          </a:p>
        </p:txBody>
      </p:sp>
      <p:sp>
        <p:nvSpPr>
          <p:cNvPr id="14" name="Text 11"/>
          <p:cNvSpPr txBox="1"/>
          <p:nvPr/>
        </p:nvSpPr>
        <p:spPr>
          <a:xfrm>
            <a:off x="1325880" y="3337560"/>
            <a:ext cx="4023360" cy="41148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Next step: remote test</a:t>
            </a:r>
            <a:endParaRPr lang="en-US" sz="1900" dirty="0"/>
          </a:p>
        </p:txBody>
      </p:sp>
      <p:sp>
        <p:nvSpPr>
          <p:cNvPr id="15" name="Text 12"/>
          <p:cNvSpPr txBox="1"/>
          <p:nvPr/>
        </p:nvSpPr>
        <p:spPr>
          <a:xfrm>
            <a:off x="1325880" y="3776472"/>
            <a:ext cx="4023360" cy="502920"/>
          </a:xfrm>
          <a:prstGeom prst="rect">
            <a:avLst/>
          </a:prstGeom>
          <a:noFill/>
          <a:ln/>
        </p:spPr>
        <p:txBody>
          <a:bodyPr wrap="square" lIns="0" tIns="0" rIns="0" bIns="0" rtlCol="0" anchor="t"/>
          <a:lstStyle/>
          <a:p>
            <a:pPr indent="0" marL="0">
              <a:buNone/>
            </a:pPr>
            <a:r>
              <a:rPr lang="en-US" sz="1400" dirty="0">
                <a:solidFill>
                  <a:srgbClr val="8FA3BF"/>
                </a:solidFill>
                <a:latin typeface="Calibri" pitchFamily="34" charset="0"/>
                <a:ea typeface="Calibri" pitchFamily="34" charset="-122"/>
                <a:cs typeface="Calibri" pitchFamily="34" charset="-120"/>
              </a:rPr>
              <a:t>Scan from an authorized second device</a:t>
            </a:r>
            <a:endParaRPr lang="en-US" sz="1400" dirty="0"/>
          </a:p>
        </p:txBody>
      </p:sp>
      <p:sp>
        <p:nvSpPr>
          <p:cNvPr id="16" name="Shape 13"/>
          <p:cNvSpPr/>
          <p:nvPr/>
        </p:nvSpPr>
        <p:spPr>
          <a:xfrm>
            <a:off x="5669280" y="1234440"/>
            <a:ext cx="3017520" cy="3063240"/>
          </a:xfrm>
          <a:prstGeom prst="rect">
            <a:avLst/>
          </a:prstGeom>
          <a:solidFill>
            <a:srgbClr val="15213A"/>
          </a:solidFill>
          <a:ln w="9525">
            <a:solidFill>
              <a:srgbClr val="24344F"/>
            </a:solidFill>
            <a:prstDash val="solid"/>
          </a:ln>
        </p:spPr>
      </p:sp>
      <p:sp>
        <p:nvSpPr>
          <p:cNvPr id="17" name="Text 14"/>
          <p:cNvSpPr txBox="1"/>
          <p:nvPr/>
        </p:nvSpPr>
        <p:spPr>
          <a:xfrm>
            <a:off x="5897880" y="1463040"/>
            <a:ext cx="2560320" cy="2011680"/>
          </a:xfrm>
          <a:prstGeom prst="rect">
            <a:avLst/>
          </a:prstGeom>
          <a:noFill/>
          <a:ln/>
        </p:spPr>
        <p:txBody>
          <a:bodyPr wrap="square" lIns="0" tIns="0" rIns="0" bIns="0" rtlCol="0" anchor="ctr"/>
          <a:lstStyle/>
          <a:p>
            <a:pPr indent="0" marL="0">
              <a:buNone/>
            </a:pPr>
            <a:r>
              <a:rPr lang="en-US" sz="2100" i="1" dirty="0">
                <a:solidFill>
                  <a:srgbClr val="2DD4A7"/>
                </a:solidFill>
                <a:latin typeface="Cambria" pitchFamily="34" charset="0"/>
                <a:ea typeface="Cambria" pitchFamily="34" charset="-122"/>
                <a:cs typeface="Cambria" pitchFamily="34" charset="-120"/>
              </a:rPr>
              <a:t>“A port scan is an inventory step, not proof of a vulnerability.”</a:t>
            </a:r>
            <a:endParaRPr lang="en-US" sz="2100" dirty="0"/>
          </a:p>
        </p:txBody>
      </p:sp>
      <p:sp>
        <p:nvSpPr>
          <p:cNvPr id="18" name="Text 15"/>
          <p:cNvSpPr txBox="1"/>
          <p:nvPr/>
        </p:nvSpPr>
        <p:spPr>
          <a:xfrm>
            <a:off x="5897880" y="3611880"/>
            <a:ext cx="2560320" cy="4572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Reconnaissance and Security Assessment Using Nmap</dc:title>
  <dc:subject>PptxGenJS Presentation</dc:subject>
  <dc:creator>Group 36</dc:creator>
  <cp:lastModifiedBy>Group 36</cp:lastModifiedBy>
  <cp:revision>1</cp:revision>
  <dcterms:created xsi:type="dcterms:W3CDTF">2026-10-16T16:14:09Z</dcterms:created>
  <dcterms:modified xsi:type="dcterms:W3CDTF">2026-10-16T16:14:09Z</dcterms:modified>
</cp:coreProperties>
</file>